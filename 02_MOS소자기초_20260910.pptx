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46"/>
  </p:notesMasterIdLst>
  <p:sldIdLst>
    <p:sldId id="261" r:id="rId2"/>
    <p:sldId id="319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320" r:id="rId20"/>
    <p:sldId id="291" r:id="rId21"/>
    <p:sldId id="292" r:id="rId22"/>
    <p:sldId id="293" r:id="rId23"/>
    <p:sldId id="294" r:id="rId24"/>
    <p:sldId id="295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6" r:id="rId43"/>
    <p:sldId id="317" r:id="rId44"/>
    <p:sldId id="318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94665" autoAdjust="0"/>
  </p:normalViewPr>
  <p:slideViewPr>
    <p:cSldViewPr snapToGrid="0">
      <p:cViewPr varScale="1">
        <p:scale>
          <a:sx n="85" d="100"/>
          <a:sy n="85" d="100"/>
        </p:scale>
        <p:origin x="6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3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91217-798A-40F8-B13D-AE888733CAE9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AC0B3-6F66-4298-B96F-13A36C44C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56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48021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796896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SzPct val="50000"/>
              <a:buFont typeface="Wingdings" panose="05000000000000000000" pitchFamily="2" charset="2"/>
              <a:buChar char="u"/>
              <a:defRPr/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9896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11551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0988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4610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10327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535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998684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65009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16124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00745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4D5DB-D96B-41DD-AA7B-20A58568D465}" type="datetime1">
              <a:rPr lang="ko-KR" altLang="en-US" smtClean="0"/>
              <a:t>2026-09-17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0E2FB-F9DA-41D2-B024-CA9A03739C3B}"/>
              </a:ext>
            </a:extLst>
          </p:cNvPr>
          <p:cNvSpPr/>
          <p:nvPr userDrawn="1"/>
        </p:nvSpPr>
        <p:spPr>
          <a:xfrm>
            <a:off x="543339" y="1218028"/>
            <a:ext cx="11105323" cy="745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028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8977C-4726-4A60-BB99-D75B1002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MOS Device Physics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E1DD2-1B9E-4947-9B99-CB5A11615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Design of Analog CMOS Integrated Circuit (2</a:t>
            </a:r>
            <a:r>
              <a:rPr lang="en-US" altLang="ko-KR" baseline="30000" dirty="0"/>
              <a:t>nd</a:t>
            </a:r>
            <a:r>
              <a:rPr lang="en-US" altLang="ko-KR" dirty="0"/>
              <a:t> ed.), Behzad </a:t>
            </a:r>
            <a:r>
              <a:rPr lang="en-US" altLang="ko-KR" dirty="0" err="1"/>
              <a:t>Razavi</a:t>
            </a:r>
            <a:r>
              <a:rPr lang="en-US" altLang="ko-KR" dirty="0"/>
              <a:t> </a:t>
            </a:r>
            <a:r>
              <a:rPr lang="ko-KR" altLang="en-US" dirty="0"/>
              <a:t>교재 </a:t>
            </a:r>
            <a:r>
              <a:rPr lang="en-US" altLang="ko-KR" dirty="0"/>
              <a:t>2</a:t>
            </a:r>
            <a:r>
              <a:rPr lang="ko-KR" altLang="en-US" dirty="0"/>
              <a:t>장 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2E45B-3E6B-487A-B7A6-2A351982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848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E4507-E739-4E85-86FE-3820CC19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2D63DB-5E7C-472B-84B4-FD3E5184C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소자</a:t>
            </a:r>
            <a:endParaRPr lang="en-US" altLang="ko-KR" dirty="0"/>
          </a:p>
          <a:p>
            <a:r>
              <a:rPr lang="en-US" altLang="ko-KR" dirty="0"/>
              <a:t>MOSFET </a:t>
            </a:r>
            <a:r>
              <a:rPr lang="ko-KR" altLang="en-US" dirty="0"/>
              <a:t>기초</a:t>
            </a:r>
            <a:endParaRPr lang="en-US" altLang="ko-KR" dirty="0"/>
          </a:p>
          <a:p>
            <a:r>
              <a:rPr lang="ko-KR" altLang="en-US" dirty="0"/>
              <a:t>전류</a:t>
            </a:r>
            <a:r>
              <a:rPr lang="en-US" altLang="ko-KR" dirty="0"/>
              <a:t>/</a:t>
            </a:r>
            <a:r>
              <a:rPr lang="ko-KR" altLang="en-US" dirty="0"/>
              <a:t>전압</a:t>
            </a:r>
            <a:r>
              <a:rPr lang="en-US" altLang="ko-KR" dirty="0"/>
              <a:t>(I/V) </a:t>
            </a:r>
            <a:r>
              <a:rPr lang="ko-KR" altLang="en-US" dirty="0"/>
              <a:t>특성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차 효과</a:t>
            </a:r>
            <a:endParaRPr lang="en-US" altLang="ko-KR" dirty="0"/>
          </a:p>
          <a:p>
            <a:r>
              <a:rPr lang="en-US" altLang="ko-KR" dirty="0"/>
              <a:t>MOS </a:t>
            </a:r>
            <a:r>
              <a:rPr lang="ko-KR" altLang="en-US" dirty="0"/>
              <a:t>소자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2D6EA-6C67-4280-AD08-1F5AD8DD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40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BFCC3-67E9-4519-B335-8D4CB7C4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8B15D-C1BA-4598-BC76-E80401636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오늘날의 집적회로</a:t>
            </a:r>
            <a:r>
              <a:rPr lang="en-US" altLang="ko-KR" dirty="0"/>
              <a:t>(IC) </a:t>
            </a:r>
            <a:r>
              <a:rPr lang="ko-KR" altLang="en-US" dirty="0"/>
              <a:t>산업에서는 반도체 소자에 대한 이해가 필수적임</a:t>
            </a:r>
            <a:endParaRPr lang="en-US" altLang="ko-KR" dirty="0"/>
          </a:p>
          <a:p>
            <a:pPr lvl="1"/>
            <a:r>
              <a:rPr lang="ko-KR" altLang="en-US" dirty="0"/>
              <a:t>트랜지스터는 단순한 스위치로 간주되지 않으며</a:t>
            </a:r>
            <a:r>
              <a:rPr lang="en-US" altLang="ko-KR" dirty="0"/>
              <a:t>, </a:t>
            </a:r>
            <a:r>
              <a:rPr lang="ko-KR" altLang="en-US" dirty="0"/>
              <a:t>많은 </a:t>
            </a:r>
            <a:r>
              <a:rPr lang="en-US" altLang="ko-KR" dirty="0"/>
              <a:t>2</a:t>
            </a:r>
            <a:r>
              <a:rPr lang="ko-KR" altLang="en-US" dirty="0"/>
              <a:t>차 효과들이 성능에 직접적인 영향을 미침</a:t>
            </a:r>
            <a:endParaRPr lang="en-US" altLang="ko-KR" dirty="0"/>
          </a:p>
          <a:p>
            <a:pPr lvl="2"/>
            <a:r>
              <a:rPr lang="ko-KR" altLang="en-US" dirty="0"/>
              <a:t>소자의 크기가 </a:t>
            </a:r>
            <a:r>
              <a:rPr lang="ko-KR" altLang="en-US" dirty="0" err="1"/>
              <a:t>축소됨에에</a:t>
            </a:r>
            <a:r>
              <a:rPr lang="ko-KR" altLang="en-US" dirty="0"/>
              <a:t> 따라</a:t>
            </a:r>
            <a:r>
              <a:rPr lang="en-US" altLang="ko-KR" dirty="0"/>
              <a:t>, </a:t>
            </a:r>
            <a:r>
              <a:rPr lang="ko-KR" altLang="en-US" dirty="0"/>
              <a:t>이러한 효과들은 더욱 중요해짐</a:t>
            </a:r>
            <a:endParaRPr lang="en-US" altLang="ko-KR" dirty="0"/>
          </a:p>
          <a:p>
            <a:pPr lvl="1"/>
            <a:r>
              <a:rPr lang="ko-KR" altLang="en-US" dirty="0"/>
              <a:t>설계자는 주어진 회로에서 어떤 효과를 무시할 수 있는지 종종 결정해야 하므로</a:t>
            </a:r>
            <a:r>
              <a:rPr lang="en-US" altLang="ko-KR" dirty="0"/>
              <a:t>, </a:t>
            </a:r>
            <a:r>
              <a:rPr lang="ko-KR" altLang="en-US" dirty="0"/>
              <a:t>소자 동작에 대한 통찰력은 매우 귀중함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0FF41-8371-4023-B16E-DEFB8905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86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133CC-4B30-412D-851D-7F46A3DB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일반적인 고려사항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0A015C-78AF-4DB6-B14B-5A8506E03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스위치로서의</a:t>
            </a:r>
            <a:r>
              <a:rPr lang="ko-KR" altLang="en-US" dirty="0"/>
              <a:t> </a:t>
            </a:r>
            <a:r>
              <a:rPr lang="en-US" altLang="ko-KR" dirty="0"/>
              <a:t>MOSFET</a:t>
            </a:r>
          </a:p>
          <a:p>
            <a:pPr lvl="1"/>
            <a:r>
              <a:rPr lang="ko-KR" altLang="en-US" dirty="0"/>
              <a:t>단순화된 모델</a:t>
            </a:r>
            <a:endParaRPr lang="en-US" altLang="ko-KR" dirty="0"/>
          </a:p>
          <a:p>
            <a:pPr lvl="1"/>
            <a:r>
              <a:rPr lang="en-US" altLang="ko-KR" dirty="0"/>
              <a:t>n-type MOSFET</a:t>
            </a:r>
            <a:r>
              <a:rPr lang="ko-KR" altLang="en-US" dirty="0"/>
              <a:t>의 기호는 세 개의 단자</a:t>
            </a:r>
            <a:r>
              <a:rPr lang="en-US" altLang="ko-KR" dirty="0"/>
              <a:t>(</a:t>
            </a:r>
            <a:r>
              <a:rPr lang="ko-KR" altLang="en-US" dirty="0"/>
              <a:t>게이트</a:t>
            </a:r>
            <a:r>
              <a:rPr lang="en-US" altLang="ko-KR" dirty="0"/>
              <a:t>(G), </a:t>
            </a:r>
            <a:r>
              <a:rPr lang="ko-KR" altLang="en-US" dirty="0"/>
              <a:t>소스</a:t>
            </a:r>
            <a:r>
              <a:rPr lang="en-US" altLang="ko-KR" dirty="0"/>
              <a:t>(S), </a:t>
            </a:r>
            <a:r>
              <a:rPr lang="ko-KR" altLang="en-US" dirty="0" err="1"/>
              <a:t>드레인</a:t>
            </a:r>
            <a:r>
              <a:rPr lang="en-US" altLang="ko-KR" dirty="0"/>
              <a:t>(D))</a:t>
            </a:r>
            <a:r>
              <a:rPr lang="ko-KR" altLang="en-US" dirty="0"/>
              <a:t>를 보여줌</a:t>
            </a:r>
            <a:endParaRPr lang="en-US" altLang="ko-KR" dirty="0"/>
          </a:p>
          <a:p>
            <a:pPr lvl="1"/>
            <a:r>
              <a:rPr lang="ko-KR" altLang="en-US" dirty="0"/>
              <a:t>스위치로서 트랜지스터는 게이트 전압 </a:t>
            </a:r>
            <a:r>
              <a:rPr lang="en-US" altLang="ko-KR" dirty="0"/>
              <a:t>V</a:t>
            </a:r>
            <a:r>
              <a:rPr lang="ko-KR" altLang="en-US" dirty="0"/>
              <a:t>가 </a:t>
            </a:r>
            <a:r>
              <a:rPr lang="en-US" altLang="ko-KR" dirty="0"/>
              <a:t>"</a:t>
            </a:r>
            <a:r>
              <a:rPr lang="ko-KR" altLang="en-US" dirty="0"/>
              <a:t>높음</a:t>
            </a:r>
            <a:r>
              <a:rPr lang="en-US" altLang="ko-KR" dirty="0"/>
              <a:t>(high)"</a:t>
            </a:r>
            <a:r>
              <a:rPr lang="ko-KR" altLang="en-US" dirty="0"/>
              <a:t>일 때 소스와 </a:t>
            </a:r>
            <a:r>
              <a:rPr lang="ko-KR" altLang="en-US" dirty="0" err="1"/>
              <a:t>드레인을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연결</a:t>
            </a:r>
            <a:r>
              <a:rPr lang="en-US" altLang="ko-KR" dirty="0"/>
              <a:t>"</a:t>
            </a:r>
            <a:r>
              <a:rPr lang="ko-KR" altLang="en-US" dirty="0"/>
              <a:t>하고</a:t>
            </a:r>
            <a:r>
              <a:rPr lang="en-US" altLang="ko-KR" dirty="0"/>
              <a:t>, "</a:t>
            </a:r>
            <a:r>
              <a:rPr lang="ko-KR" altLang="en-US" dirty="0"/>
              <a:t>낮음</a:t>
            </a:r>
            <a:r>
              <a:rPr lang="en-US" altLang="ko-KR" dirty="0"/>
              <a:t>(low)"</a:t>
            </a:r>
            <a:r>
              <a:rPr lang="ko-KR" altLang="en-US" dirty="0"/>
              <a:t>일 때 소스와 </a:t>
            </a:r>
            <a:r>
              <a:rPr lang="ko-KR" altLang="en-US" dirty="0" err="1"/>
              <a:t>드레인을</a:t>
            </a:r>
            <a:r>
              <a:rPr lang="ko-KR" altLang="en-US" dirty="0"/>
              <a:t> 분리함</a:t>
            </a:r>
            <a:endParaRPr lang="en-US" altLang="ko-KR" dirty="0"/>
          </a:p>
          <a:p>
            <a:pPr lvl="1"/>
            <a:r>
              <a:rPr lang="ko-KR" altLang="en-US" dirty="0"/>
              <a:t>문턱 전압</a:t>
            </a:r>
            <a:r>
              <a:rPr lang="en-US" altLang="ko-KR" dirty="0"/>
              <a:t>, </a:t>
            </a:r>
            <a:r>
              <a:rPr lang="ko-KR" altLang="en-US" dirty="0" err="1"/>
              <a:t>켜짐</a:t>
            </a:r>
            <a:r>
              <a:rPr lang="en-US" altLang="ko-KR" dirty="0"/>
              <a:t>/</a:t>
            </a:r>
            <a:r>
              <a:rPr lang="ko-KR" altLang="en-US" dirty="0"/>
              <a:t>꺼짐</a:t>
            </a:r>
            <a:r>
              <a:rPr lang="en-US" altLang="ko-KR" dirty="0"/>
              <a:t>(on/off) </a:t>
            </a:r>
            <a:r>
              <a:rPr lang="ko-KR" altLang="en-US" dirty="0"/>
              <a:t>저항</a:t>
            </a:r>
            <a:r>
              <a:rPr lang="en-US" altLang="ko-KR" dirty="0"/>
              <a:t>, </a:t>
            </a:r>
            <a:r>
              <a:rPr lang="ko-KR" altLang="en-US" dirty="0"/>
              <a:t>속도 제한 등 많은 미지수가 존재함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69D50-3724-4D35-9771-4CE921CB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CEC90-6FA6-4DB5-A0E3-30D99DCDB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413" y="4377268"/>
            <a:ext cx="3381174" cy="153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3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F1C10-413A-46F5-9470-5237897A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78E8DF-5D82-4C9E-9F72-E2AC51099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MOSFET </a:t>
            </a:r>
            <a:r>
              <a:rPr lang="ko-KR" altLang="en-US" dirty="0"/>
              <a:t>구조</a:t>
            </a:r>
            <a:endParaRPr lang="en-US" altLang="ko-KR" dirty="0"/>
          </a:p>
          <a:p>
            <a:pPr lvl="1"/>
            <a:r>
              <a:rPr lang="en-US" altLang="ko-KR" dirty="0"/>
              <a:t>n-type MOS (NMOS) </a:t>
            </a:r>
            <a:r>
              <a:rPr lang="ko-KR" altLang="en-US" dirty="0"/>
              <a:t>소자의 단순화된 구조</a:t>
            </a:r>
            <a:endParaRPr lang="en-US" altLang="ko-KR" dirty="0"/>
          </a:p>
          <a:p>
            <a:pPr lvl="2"/>
            <a:r>
              <a:rPr lang="en-US" altLang="ko-KR" dirty="0"/>
              <a:t>p-type </a:t>
            </a:r>
            <a:r>
              <a:rPr lang="ko-KR" altLang="en-US" dirty="0"/>
              <a:t>기판</a:t>
            </a:r>
            <a:r>
              <a:rPr lang="en-US" altLang="ko-KR" dirty="0"/>
              <a:t>(</a:t>
            </a:r>
            <a:r>
              <a:rPr lang="ko-KR" altLang="en-US" dirty="0" err="1"/>
              <a:t>벌크</a:t>
            </a:r>
            <a:r>
              <a:rPr lang="ko-KR" altLang="en-US" dirty="0"/>
              <a:t> 또는 바디</a:t>
            </a:r>
            <a:r>
              <a:rPr lang="en-US" altLang="ko-KR" dirty="0"/>
              <a:t>) </a:t>
            </a:r>
            <a:r>
              <a:rPr lang="ko-KR" altLang="en-US" dirty="0"/>
              <a:t>위에 제작</a:t>
            </a:r>
            <a:endParaRPr lang="en-US" altLang="ko-KR" dirty="0"/>
          </a:p>
          <a:p>
            <a:pPr lvl="2"/>
            <a:r>
              <a:rPr lang="ko-KR" altLang="en-US" dirty="0"/>
              <a:t>소스와 </a:t>
            </a:r>
            <a:r>
              <a:rPr lang="ko-KR" altLang="en-US" dirty="0" err="1"/>
              <a:t>드레인</a:t>
            </a:r>
            <a:r>
              <a:rPr lang="ko-KR" altLang="en-US" dirty="0"/>
              <a:t> 단자를 형성하는 고농도로 </a:t>
            </a:r>
            <a:r>
              <a:rPr lang="ko-KR" altLang="en-US" dirty="0" err="1"/>
              <a:t>도핑된</a:t>
            </a:r>
            <a:r>
              <a:rPr lang="ko-KR" altLang="en-US" dirty="0"/>
              <a:t> 두 개의 </a:t>
            </a:r>
            <a:r>
              <a:rPr lang="en-US" altLang="ko-KR" dirty="0"/>
              <a:t>n</a:t>
            </a:r>
            <a:r>
              <a:rPr lang="en-US" altLang="ko-KR" baseline="30000" dirty="0"/>
              <a:t>+</a:t>
            </a:r>
            <a:r>
              <a:rPr lang="en-US" altLang="ko-KR" dirty="0"/>
              <a:t> </a:t>
            </a:r>
            <a:r>
              <a:rPr lang="ko-KR" altLang="en-US" dirty="0"/>
              <a:t>영역</a:t>
            </a:r>
            <a:endParaRPr lang="en-US" altLang="ko-KR" dirty="0"/>
          </a:p>
          <a:p>
            <a:pPr lvl="2"/>
            <a:r>
              <a:rPr lang="ko-KR" altLang="en-US" dirty="0"/>
              <a:t>게이트로 동작하는 고농도로 </a:t>
            </a:r>
            <a:r>
              <a:rPr lang="ko-KR" altLang="en-US" dirty="0" err="1"/>
              <a:t>도핑된</a:t>
            </a:r>
            <a:r>
              <a:rPr lang="en-US" altLang="ko-KR" dirty="0"/>
              <a:t>(</a:t>
            </a:r>
            <a:r>
              <a:rPr lang="ko-KR" altLang="en-US" dirty="0"/>
              <a:t>전도성</a:t>
            </a:r>
            <a:r>
              <a:rPr lang="en-US" altLang="ko-KR" dirty="0"/>
              <a:t>) </a:t>
            </a:r>
            <a:r>
              <a:rPr lang="ko-KR" altLang="en-US" dirty="0" err="1"/>
              <a:t>폴리실리콘</a:t>
            </a:r>
            <a:endParaRPr lang="en-US" altLang="ko-KR" dirty="0"/>
          </a:p>
          <a:p>
            <a:pPr lvl="2"/>
            <a:r>
              <a:rPr lang="ko-KR" altLang="en-US" dirty="0"/>
              <a:t>얇은 이산화규소</a:t>
            </a:r>
            <a:r>
              <a:rPr lang="en-US" altLang="ko-KR" dirty="0"/>
              <a:t>(SiO</a:t>
            </a:r>
            <a:r>
              <a:rPr lang="en-US" altLang="ko-KR" baseline="-25000" dirty="0"/>
              <a:t>2</a:t>
            </a:r>
            <a:r>
              <a:rPr lang="en-US" altLang="ko-KR" dirty="0"/>
              <a:t>) </a:t>
            </a:r>
            <a:r>
              <a:rPr lang="ko-KR" altLang="en-US" dirty="0"/>
              <a:t>층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481234-A0DE-43A5-AB6D-7C0D8C06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0FC3C-8955-4FF7-9745-EE014D67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889375"/>
            <a:ext cx="69342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00C2F-2A1C-43C3-AFDB-BC3D1447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19937-B385-464F-BD3B-1819DE056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길이</a:t>
            </a:r>
            <a:r>
              <a:rPr lang="en-US" altLang="ko-KR" dirty="0"/>
              <a:t>(Length, L): </a:t>
            </a:r>
            <a:r>
              <a:rPr lang="ko-KR" altLang="en-US" dirty="0"/>
              <a:t>소스</a:t>
            </a:r>
            <a:r>
              <a:rPr lang="en-US" altLang="ko-KR" dirty="0"/>
              <a:t>-</a:t>
            </a:r>
            <a:r>
              <a:rPr lang="ko-KR" altLang="en-US" dirty="0" err="1"/>
              <a:t>드레인</a:t>
            </a:r>
            <a:r>
              <a:rPr lang="ko-KR" altLang="en-US" dirty="0"/>
              <a:t> 경로를 따라 있는 게이트의 측면 치수</a:t>
            </a:r>
            <a:endParaRPr lang="en-US" altLang="ko-KR" dirty="0"/>
          </a:p>
          <a:p>
            <a:pPr lvl="1"/>
            <a:r>
              <a:rPr lang="ko-KR" altLang="en-US" dirty="0"/>
              <a:t>폭</a:t>
            </a:r>
            <a:r>
              <a:rPr lang="en-US" altLang="ko-KR" dirty="0"/>
              <a:t>(Width, W): </a:t>
            </a:r>
            <a:r>
              <a:rPr lang="ko-KR" altLang="en-US" dirty="0"/>
              <a:t>길이에 수직인 치수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제조 과정에서 소스</a:t>
            </a:r>
            <a:r>
              <a:rPr lang="en-US" altLang="ko-KR" dirty="0"/>
              <a:t>/</a:t>
            </a:r>
            <a:r>
              <a:rPr lang="ko-KR" altLang="en-US" dirty="0" err="1"/>
              <a:t>드레인</a:t>
            </a:r>
            <a:r>
              <a:rPr lang="en-US" altLang="ko-KR" dirty="0"/>
              <a:t>(S/D) </a:t>
            </a:r>
            <a:r>
              <a:rPr lang="ko-KR" altLang="en-US" dirty="0"/>
              <a:t>접합이 </a:t>
            </a:r>
            <a:r>
              <a:rPr lang="en-US" altLang="ko-KR" dirty="0"/>
              <a:t>"</a:t>
            </a:r>
            <a:r>
              <a:rPr lang="ko-KR" altLang="en-US" dirty="0"/>
              <a:t>측면 확산</a:t>
            </a:r>
            <a:r>
              <a:rPr lang="en-US" altLang="ko-KR" dirty="0"/>
              <a:t>(side-diffuse)"</a:t>
            </a:r>
            <a:r>
              <a:rPr lang="ko-KR" altLang="en-US" dirty="0"/>
              <a:t>되기 때문에</a:t>
            </a:r>
            <a:r>
              <a:rPr lang="en-US" altLang="ko-KR" dirty="0"/>
              <a:t>, </a:t>
            </a:r>
            <a:r>
              <a:rPr lang="ko-KR" altLang="en-US" dirty="0"/>
              <a:t>소스와 </a:t>
            </a:r>
            <a:r>
              <a:rPr lang="ko-KR" altLang="en-US" dirty="0" err="1"/>
              <a:t>드레인</a:t>
            </a:r>
            <a:r>
              <a:rPr lang="ko-KR" altLang="en-US" dirty="0"/>
              <a:t> 사이의 실제 거리는 </a:t>
            </a:r>
            <a:r>
              <a:rPr lang="en-US" altLang="ko-KR" dirty="0"/>
              <a:t>L</a:t>
            </a:r>
            <a:r>
              <a:rPr lang="ko-KR" altLang="en-US" dirty="0"/>
              <a:t>보다 약간 짧음</a:t>
            </a:r>
            <a:endParaRPr lang="en-US" altLang="ko-KR" dirty="0"/>
          </a:p>
          <a:p>
            <a:pPr lvl="2"/>
            <a:r>
              <a:rPr lang="ko-KR" altLang="en-US" dirty="0"/>
              <a:t>유효 길이</a:t>
            </a:r>
            <a:r>
              <a:rPr lang="en-US" altLang="ko-KR" dirty="0"/>
              <a:t>(effective length) vs. </a:t>
            </a:r>
            <a:r>
              <a:rPr lang="ko-KR" altLang="en-US" dirty="0"/>
              <a:t>설계 길이</a:t>
            </a:r>
            <a:r>
              <a:rPr lang="en-US" altLang="ko-KR" dirty="0"/>
              <a:t>(drawn length)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6B9B4-FE71-49FD-B79B-E63A9BBA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1762626-648A-44C8-897C-4D5FE7D78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759" y="3778515"/>
            <a:ext cx="2464481" cy="36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8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16271-22B2-4AA3-BF0B-A3BF754D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E18AAD-5C41-4613-AB77-1E1C4BEF7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기판 전위</a:t>
            </a:r>
            <a:r>
              <a:rPr lang="en-US" altLang="ko-KR" dirty="0"/>
              <a:t>(potential)</a:t>
            </a:r>
            <a:r>
              <a:rPr lang="ko-KR" altLang="en-US" dirty="0"/>
              <a:t>는 소자 특성에 큰 영향을 미침</a:t>
            </a:r>
            <a:endParaRPr lang="en-US" altLang="ko-KR" dirty="0"/>
          </a:p>
          <a:p>
            <a:pPr lvl="2"/>
            <a:r>
              <a:rPr lang="en-US" altLang="ko-KR" dirty="0"/>
              <a:t>MOSFET</a:t>
            </a:r>
            <a:r>
              <a:rPr lang="ko-KR" altLang="en-US" dirty="0"/>
              <a:t>은 </a:t>
            </a:r>
            <a:r>
              <a:rPr lang="en-US" altLang="ko-KR" dirty="0"/>
              <a:t>4</a:t>
            </a:r>
            <a:r>
              <a:rPr lang="ko-KR" altLang="en-US" dirty="0"/>
              <a:t>단자 소자</a:t>
            </a:r>
            <a:endParaRPr lang="en-US" altLang="ko-KR" dirty="0"/>
          </a:p>
          <a:p>
            <a:pPr lvl="2"/>
            <a:r>
              <a:rPr lang="ko-KR" altLang="en-US" dirty="0"/>
              <a:t>일반적인 </a:t>
            </a:r>
            <a:r>
              <a:rPr lang="en-US" altLang="ko-KR" dirty="0"/>
              <a:t>MOS </a:t>
            </a:r>
            <a:r>
              <a:rPr lang="ko-KR" altLang="en-US" dirty="0"/>
              <a:t>동작에서 </a:t>
            </a:r>
            <a:r>
              <a:rPr lang="en-US" altLang="ko-KR" dirty="0"/>
              <a:t>S/D </a:t>
            </a:r>
            <a:r>
              <a:rPr lang="ko-KR" altLang="en-US" dirty="0"/>
              <a:t>접합 다이오드는 역방향 바이어스</a:t>
            </a:r>
            <a:r>
              <a:rPr lang="en-US" altLang="ko-KR" dirty="0"/>
              <a:t>(reverse-biased)</a:t>
            </a:r>
            <a:r>
              <a:rPr lang="ko-KR" altLang="en-US" dirty="0"/>
              <a:t>되어야 하므로</a:t>
            </a:r>
            <a:r>
              <a:rPr lang="en-US" altLang="ko-KR" dirty="0"/>
              <a:t>, NMOS </a:t>
            </a:r>
            <a:r>
              <a:rPr lang="ko-KR" altLang="en-US" dirty="0"/>
              <a:t>트랜지스터의 기판은 시스템에서 가장 낮은 음의 전원에 연결된다고 가정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F8A62-1C3E-45D8-BB8B-5C484E11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01318-0148-480E-82B7-50F27146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3308074"/>
            <a:ext cx="58007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4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AD9C8-83F2-4014-B2A7-BE1F0F76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FB07D-A89C-4B69-B38F-878B080C8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기호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19F04-6782-422D-8290-B35BD404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3BF2A-C35C-4222-ACC6-52F5099ED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2649802"/>
            <a:ext cx="76104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4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E6D7F-5414-43BF-9C10-BD0D89C8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MOS I/V </a:t>
            </a:r>
            <a:r>
              <a:rPr lang="ko-KR" altLang="en-US" dirty="0"/>
              <a:t>특성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45E5D4-4EE3-44A1-A907-0BA4E7E9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문턱 전압과 </a:t>
            </a:r>
            <a:r>
              <a:rPr lang="ko-KR" altLang="en-US" dirty="0" err="1"/>
              <a:t>공핍</a:t>
            </a:r>
            <a:r>
              <a:rPr lang="ko-KR" altLang="en-US" dirty="0"/>
              <a:t> 영역 </a:t>
            </a:r>
            <a:endParaRPr lang="en-US" altLang="ko-KR" dirty="0"/>
          </a:p>
          <a:p>
            <a:pPr lvl="1"/>
            <a:r>
              <a:rPr lang="ko-KR" altLang="en-US" dirty="0" err="1"/>
              <a:t>공핍</a:t>
            </a:r>
            <a:r>
              <a:rPr lang="ko-KR" altLang="en-US" dirty="0"/>
              <a:t> </a:t>
            </a:r>
            <a:r>
              <a:rPr lang="ko-KR" altLang="en-US" dirty="0" err="1"/>
              <a:t>영억</a:t>
            </a:r>
            <a:endParaRPr lang="en-US" altLang="ko-KR" dirty="0"/>
          </a:p>
          <a:p>
            <a:pPr lvl="2"/>
            <a:r>
              <a:rPr lang="ko-KR" altLang="en-US" dirty="0"/>
              <a:t>게이트 전압 </a:t>
            </a:r>
            <a:r>
              <a:rPr lang="en-US" altLang="ko-KR" dirty="0"/>
              <a:t>V</a:t>
            </a:r>
            <a:r>
              <a:rPr lang="en-US" altLang="ko-KR" baseline="-25000" dirty="0"/>
              <a:t>G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에서 증가하면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lvl="3"/>
            <a:r>
              <a:rPr lang="ko-KR" altLang="en-US" dirty="0"/>
              <a:t>게이트</a:t>
            </a:r>
            <a:r>
              <a:rPr lang="en-US" altLang="ko-KR" dirty="0"/>
              <a:t>, </a:t>
            </a:r>
            <a:r>
              <a:rPr lang="ko-KR" altLang="en-US" dirty="0"/>
              <a:t>유전체</a:t>
            </a:r>
            <a:r>
              <a:rPr lang="en-US" altLang="ko-KR" dirty="0"/>
              <a:t>, </a:t>
            </a:r>
            <a:r>
              <a:rPr lang="ko-KR" altLang="en-US" dirty="0"/>
              <a:t>기판이 </a:t>
            </a:r>
            <a:r>
              <a:rPr lang="ko-KR" altLang="en-US" dirty="0" err="1"/>
              <a:t>커패시터를</a:t>
            </a:r>
            <a:r>
              <a:rPr lang="ko-KR" altLang="en-US" dirty="0"/>
              <a:t> 형성하기 때문에</a:t>
            </a:r>
            <a:r>
              <a:rPr lang="en-US" altLang="ko-KR" dirty="0"/>
              <a:t>, V</a:t>
            </a:r>
            <a:r>
              <a:rPr lang="en-US" altLang="ko-KR" baseline="-25000" dirty="0"/>
              <a:t>G</a:t>
            </a:r>
            <a:r>
              <a:rPr lang="ko-KR" altLang="en-US" dirty="0"/>
              <a:t>가 더 양의 값이 될수록 </a:t>
            </a:r>
            <a:r>
              <a:rPr lang="en-US" altLang="ko-KR" dirty="0"/>
              <a:t>p-</a:t>
            </a:r>
            <a:r>
              <a:rPr lang="ko-KR" altLang="en-US" dirty="0"/>
              <a:t>기판의 정공들은 게이트 영역에서 밀려나고</a:t>
            </a:r>
            <a:r>
              <a:rPr lang="en-US" altLang="ko-KR" dirty="0"/>
              <a:t>, </a:t>
            </a:r>
            <a:r>
              <a:rPr lang="ko-KR" altLang="en-US" dirty="0"/>
              <a:t>게이트의 전하와 </a:t>
            </a:r>
            <a:r>
              <a:rPr lang="ko-KR" altLang="en-US" dirty="0" err="1"/>
              <a:t>거울상</a:t>
            </a:r>
            <a:r>
              <a:rPr lang="en-US" altLang="ko-KR" dirty="0"/>
              <a:t>(</a:t>
            </a:r>
            <a:r>
              <a:rPr lang="ko-KR" altLang="en-US" dirty="0"/>
              <a:t>대칭</a:t>
            </a:r>
            <a:r>
              <a:rPr lang="en-US" altLang="ko-KR" dirty="0"/>
              <a:t>)</a:t>
            </a:r>
            <a:r>
              <a:rPr lang="ko-KR" altLang="en-US" dirty="0"/>
              <a:t>을 이루기 위해 음이온들만 남게 됨</a:t>
            </a:r>
            <a:endParaRPr lang="en-US" altLang="ko-KR" dirty="0"/>
          </a:p>
          <a:p>
            <a:pPr lvl="3"/>
            <a:r>
              <a:rPr lang="ko-KR" altLang="en-US" dirty="0"/>
              <a:t>이동할 수 있는 전하 </a:t>
            </a:r>
            <a:r>
              <a:rPr lang="ko-KR" altLang="en-US" dirty="0" err="1"/>
              <a:t>운반자</a:t>
            </a:r>
            <a:r>
              <a:rPr lang="en-US" altLang="ko-KR" dirty="0"/>
              <a:t>(charge carrier)</a:t>
            </a:r>
            <a:r>
              <a:rPr lang="ko-KR" altLang="en-US" dirty="0"/>
              <a:t>가 없기 때문에 전류가 흐르지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5A63B3-A47F-441B-8BA9-FAD7F50B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42A4E-D640-4590-A53A-D320DBAA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3989778"/>
            <a:ext cx="81438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9F5-F375-4308-AF8F-8A187979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C6404-2E58-482E-B7F1-BDA9715A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개의 </a:t>
            </a:r>
            <a:r>
              <a:rPr lang="ko-KR" altLang="en-US" dirty="0" err="1"/>
              <a:t>커패시터로</a:t>
            </a:r>
            <a:r>
              <a:rPr lang="ko-KR" altLang="en-US" dirty="0"/>
              <a:t> 구성된 전압 분배기를 형성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D6BC3-77CF-44AE-ADF5-FD3795AC1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CC414-7116-4DF8-970A-C9FBCEA0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900" y="2373039"/>
            <a:ext cx="3102200" cy="211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7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A211A-71AA-4480-AA98-92DC818F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DEE4-58F3-4D12-A690-609785B99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반전층</a:t>
            </a:r>
            <a:r>
              <a:rPr lang="en-US" altLang="ko-KR" dirty="0"/>
              <a:t>/</a:t>
            </a:r>
            <a:r>
              <a:rPr lang="ko-KR" altLang="en-US" dirty="0"/>
              <a:t>채널 </a:t>
            </a:r>
            <a:r>
              <a:rPr lang="en-US" altLang="ko-KR" dirty="0"/>
              <a:t>(Inversion layer/channel)</a:t>
            </a:r>
          </a:p>
          <a:p>
            <a:pPr lvl="1"/>
            <a:r>
              <a:rPr lang="ko-KR" altLang="en-US" dirty="0"/>
              <a:t>계면 전위가 충분히 양의 값에 도달하면</a:t>
            </a:r>
            <a:r>
              <a:rPr lang="en-US" altLang="ko-KR" dirty="0"/>
              <a:t>, </a:t>
            </a:r>
            <a:r>
              <a:rPr lang="ko-KR" altLang="en-US" dirty="0"/>
              <a:t>전자들이 소스에서 계면으로 흐르고 결국 </a:t>
            </a:r>
            <a:r>
              <a:rPr lang="ko-KR" altLang="en-US" dirty="0" err="1"/>
              <a:t>드레인으로</a:t>
            </a:r>
            <a:r>
              <a:rPr lang="ko-KR" altLang="en-US" dirty="0"/>
              <a:t> 흐르게 됨</a:t>
            </a:r>
            <a:endParaRPr lang="en-US" altLang="ko-KR" dirty="0"/>
          </a:p>
          <a:p>
            <a:pPr lvl="1"/>
            <a:r>
              <a:rPr lang="ko-KR" altLang="en-US" dirty="0"/>
              <a:t>전하 운반자들의 </a:t>
            </a:r>
            <a:r>
              <a:rPr lang="en-US" altLang="ko-KR" dirty="0"/>
              <a:t>"</a:t>
            </a:r>
            <a:r>
              <a:rPr lang="ko-KR" altLang="en-US" dirty="0"/>
              <a:t>채널</a:t>
            </a:r>
            <a:r>
              <a:rPr lang="en-US" altLang="ko-KR" dirty="0"/>
              <a:t>"</a:t>
            </a:r>
            <a:r>
              <a:rPr lang="ko-KR" altLang="en-US" dirty="0"/>
              <a:t>이 소스</a:t>
            </a:r>
            <a:r>
              <a:rPr lang="en-US" altLang="ko-KR" dirty="0"/>
              <a:t>(S)</a:t>
            </a:r>
            <a:r>
              <a:rPr lang="ko-KR" altLang="en-US" dirty="0"/>
              <a:t>와 </a:t>
            </a:r>
            <a:r>
              <a:rPr lang="ko-KR" altLang="en-US" dirty="0" err="1"/>
              <a:t>드레인</a:t>
            </a:r>
            <a:r>
              <a:rPr lang="en-US" altLang="ko-KR" dirty="0"/>
              <a:t>(D) </a:t>
            </a:r>
            <a:r>
              <a:rPr lang="ko-KR" altLang="en-US" dirty="0"/>
              <a:t>사이의 게이트 </a:t>
            </a:r>
            <a:r>
              <a:rPr lang="ko-KR" altLang="en-US" dirty="0" err="1"/>
              <a:t>산화막</a:t>
            </a:r>
            <a:r>
              <a:rPr lang="ko-KR" altLang="en-US" dirty="0"/>
              <a:t> 아래에 형성되며</a:t>
            </a:r>
            <a:r>
              <a:rPr lang="en-US" altLang="ko-KR" dirty="0"/>
              <a:t>, </a:t>
            </a:r>
            <a:r>
              <a:rPr lang="ko-KR" altLang="en-US" dirty="0"/>
              <a:t>트랜지스터가 </a:t>
            </a:r>
            <a:r>
              <a:rPr lang="en-US" altLang="ko-KR" dirty="0"/>
              <a:t>"</a:t>
            </a:r>
            <a:r>
              <a:rPr lang="ko-KR" altLang="en-US" dirty="0" err="1"/>
              <a:t>켜짐</a:t>
            </a:r>
            <a:r>
              <a:rPr lang="en-US" altLang="ko-KR" dirty="0"/>
              <a:t>(turned on)“</a:t>
            </a:r>
          </a:p>
          <a:p>
            <a:pPr lvl="2"/>
            <a:r>
              <a:rPr lang="ko-KR" altLang="en-US" dirty="0"/>
              <a:t>이러한 현상이 발생하는 </a:t>
            </a:r>
            <a:r>
              <a:rPr lang="en-US" altLang="ko-KR" dirty="0"/>
              <a:t>V</a:t>
            </a:r>
            <a:r>
              <a:rPr lang="en-US" altLang="ko-KR" baseline="-25000" dirty="0"/>
              <a:t>G</a:t>
            </a:r>
            <a:r>
              <a:rPr lang="en-US" altLang="ko-KR" dirty="0"/>
              <a:t> </a:t>
            </a:r>
            <a:r>
              <a:rPr lang="ko-KR" altLang="en-US" dirty="0"/>
              <a:t>값을 </a:t>
            </a:r>
            <a:r>
              <a:rPr lang="en-US" altLang="ko-KR" dirty="0"/>
              <a:t>"</a:t>
            </a:r>
            <a:r>
              <a:rPr lang="ko-KR" altLang="en-US" dirty="0"/>
              <a:t>문턱 전압</a:t>
            </a:r>
            <a:r>
              <a:rPr lang="en-US" altLang="ko-KR" dirty="0"/>
              <a:t>(V</a:t>
            </a:r>
            <a:r>
              <a:rPr lang="en-US" altLang="ko-KR" baseline="-25000" dirty="0"/>
              <a:t>TH</a:t>
            </a:r>
            <a:r>
              <a:rPr lang="en-US" altLang="ko-KR" dirty="0"/>
              <a:t>)"</a:t>
            </a:r>
            <a:r>
              <a:rPr lang="ko-KR" altLang="en-US" dirty="0"/>
              <a:t>이라고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A646B-D6E4-4399-977F-82125E1C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CAEC0-8E11-4315-949A-96DDD81EB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268" y="3710247"/>
            <a:ext cx="3319463" cy="23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69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89C65-43CB-40AE-BCAE-99DA2A14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ABB72-3DAC-4A6F-AF61-F1B296CC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실제로 </a:t>
            </a:r>
            <a:r>
              <a:rPr lang="ko-KR" altLang="en-US" dirty="0" err="1"/>
              <a:t>켜짐</a:t>
            </a:r>
            <a:r>
              <a:rPr lang="ko-KR" altLang="en-US" dirty="0"/>
              <a:t> 현상은 게이트 전압의 점진적인 함수이므로</a:t>
            </a:r>
            <a:r>
              <a:rPr lang="en-US" altLang="ko-KR" dirty="0"/>
              <a:t>, V</a:t>
            </a:r>
            <a:r>
              <a:rPr lang="en-US" altLang="ko-KR" baseline="-25000" dirty="0"/>
              <a:t>TH</a:t>
            </a:r>
            <a:r>
              <a:rPr lang="ko-KR" altLang="en-US" dirty="0"/>
              <a:t>를 명확하게 정의하기 어려움</a:t>
            </a:r>
            <a:endParaRPr lang="en-US" altLang="ko-KR" dirty="0"/>
          </a:p>
          <a:p>
            <a:pPr lvl="1"/>
            <a:r>
              <a:rPr lang="ko-KR" altLang="en-US" dirty="0"/>
              <a:t>반도체 물리에서 </a:t>
            </a:r>
            <a:r>
              <a:rPr lang="en-US" altLang="ko-KR" dirty="0"/>
              <a:t>NFET</a:t>
            </a:r>
            <a:r>
              <a:rPr lang="ko-KR" altLang="en-US" dirty="0"/>
              <a:t>의 </a:t>
            </a:r>
            <a:r>
              <a:rPr lang="en-US" altLang="ko-KR" dirty="0"/>
              <a:t>V</a:t>
            </a:r>
            <a:r>
              <a:rPr lang="en-US" altLang="ko-KR" baseline="-25000" dirty="0"/>
              <a:t>TH</a:t>
            </a:r>
            <a:r>
              <a:rPr lang="ko-KR" altLang="en-US" dirty="0"/>
              <a:t>는 일반적으로 </a:t>
            </a:r>
            <a:r>
              <a:rPr lang="en-US" altLang="ko-KR" dirty="0"/>
              <a:t>"</a:t>
            </a:r>
            <a:r>
              <a:rPr lang="ko-KR" altLang="en-US" dirty="0"/>
              <a:t>기판이 </a:t>
            </a:r>
            <a:r>
              <a:rPr lang="en-US" altLang="ko-KR" dirty="0"/>
              <a:t>p-type</a:t>
            </a:r>
            <a:r>
              <a:rPr lang="ko-KR" altLang="en-US" dirty="0"/>
              <a:t>인 만큼 계면이 </a:t>
            </a:r>
            <a:r>
              <a:rPr lang="en-US" altLang="ko-KR" dirty="0"/>
              <a:t>n-type</a:t>
            </a:r>
            <a:r>
              <a:rPr lang="ko-KR" altLang="en-US" dirty="0"/>
              <a:t>이 되는</a:t>
            </a:r>
            <a:r>
              <a:rPr lang="en-US" altLang="ko-KR" dirty="0"/>
              <a:t>" </a:t>
            </a:r>
            <a:r>
              <a:rPr lang="ko-KR" altLang="en-US" dirty="0"/>
              <a:t>게이트 전압으로 정의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Φ</a:t>
            </a:r>
            <a:r>
              <a:rPr lang="en-US" altLang="ko-KR" baseline="-25000" dirty="0"/>
              <a:t>MS</a:t>
            </a:r>
            <a:r>
              <a:rPr lang="en-US" altLang="ko-KR" dirty="0"/>
              <a:t>: </a:t>
            </a:r>
            <a:r>
              <a:rPr lang="ko-KR" altLang="en-US" dirty="0" err="1"/>
              <a:t>폴리실리콘</a:t>
            </a:r>
            <a:r>
              <a:rPr lang="ko-KR" altLang="en-US" dirty="0"/>
              <a:t> 게이트와 실리콘 기판의 </a:t>
            </a:r>
            <a:r>
              <a:rPr lang="ko-KR" altLang="en-US" dirty="0" err="1"/>
              <a:t>일함수</a:t>
            </a:r>
            <a:r>
              <a:rPr lang="ko-KR" altLang="en-US" dirty="0"/>
              <a:t> 차이</a:t>
            </a:r>
            <a:endParaRPr lang="en-US" altLang="ko-KR" dirty="0"/>
          </a:p>
          <a:p>
            <a:pPr lvl="2"/>
            <a:r>
              <a:rPr lang="el-GR" altLang="ko-KR" dirty="0"/>
              <a:t>Φ</a:t>
            </a:r>
            <a:r>
              <a:rPr lang="en-US" altLang="ko-KR" baseline="-25000" dirty="0"/>
              <a:t>F</a:t>
            </a:r>
            <a:r>
              <a:rPr lang="en-US" altLang="ko-KR" dirty="0"/>
              <a:t> = (</a:t>
            </a:r>
            <a:r>
              <a:rPr lang="en-US" altLang="ko-KR" dirty="0" err="1"/>
              <a:t>kT</a:t>
            </a:r>
            <a:r>
              <a:rPr lang="en-US" altLang="ko-KR" dirty="0"/>
              <a:t>/q)ln(</a:t>
            </a:r>
            <a:r>
              <a:rPr lang="en-US" altLang="ko-KR" dirty="0" err="1"/>
              <a:t>N</a:t>
            </a:r>
            <a:r>
              <a:rPr lang="en-US" altLang="ko-KR" baseline="-25000" dirty="0" err="1"/>
              <a:t>sub</a:t>
            </a:r>
            <a:r>
              <a:rPr lang="en-US" altLang="ko-KR" dirty="0"/>
              <a:t>/</a:t>
            </a:r>
            <a:r>
              <a:rPr lang="en-US" altLang="ko-KR" dirty="0" err="1"/>
              <a:t>n</a:t>
            </a:r>
            <a:r>
              <a:rPr lang="en-US" altLang="ko-KR" baseline="-25000" dirty="0" err="1"/>
              <a:t>i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Q</a:t>
            </a:r>
            <a:r>
              <a:rPr lang="en-US" altLang="ko-KR" baseline="-25000" dirty="0" err="1"/>
              <a:t>dep</a:t>
            </a:r>
            <a:r>
              <a:rPr lang="en-US" altLang="ko-KR" dirty="0"/>
              <a:t>: </a:t>
            </a:r>
            <a:r>
              <a:rPr lang="ko-KR" altLang="en-US" dirty="0" err="1"/>
              <a:t>공핍</a:t>
            </a:r>
            <a:r>
              <a:rPr lang="ko-KR" altLang="en-US" dirty="0"/>
              <a:t> 영역 내의 전하</a:t>
            </a:r>
            <a:endParaRPr lang="en-US" altLang="ko-KR" dirty="0"/>
          </a:p>
          <a:p>
            <a:pPr lvl="2"/>
            <a:r>
              <a:rPr lang="en-US" altLang="ko-KR" dirty="0"/>
              <a:t>C</a:t>
            </a:r>
            <a:r>
              <a:rPr lang="en-US" altLang="ko-KR" baseline="-25000" dirty="0"/>
              <a:t>ox</a:t>
            </a:r>
            <a:r>
              <a:rPr lang="en-US" altLang="ko-KR" dirty="0"/>
              <a:t>: </a:t>
            </a:r>
            <a:r>
              <a:rPr lang="ko-KR" altLang="en-US" dirty="0"/>
              <a:t>게이트 </a:t>
            </a:r>
            <a:r>
              <a:rPr lang="ko-KR" altLang="en-US" dirty="0" err="1"/>
              <a:t>산화막</a:t>
            </a:r>
            <a:r>
              <a:rPr lang="ko-KR" altLang="en-US" dirty="0"/>
              <a:t> </a:t>
            </a:r>
            <a:r>
              <a:rPr lang="ko-KR" altLang="en-US" dirty="0" err="1"/>
              <a:t>커패시턴스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6D43D-BB37-4046-9EDD-5CE6AE92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30733-798C-4BE9-96E6-47C52B694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84" y="2978084"/>
            <a:ext cx="2982232" cy="73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65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ADE34-28BF-4C57-9A09-D57F90B9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CDF821-DDD9-467C-9E7E-8531E0FD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문턱 전압 조정</a:t>
            </a:r>
            <a:endParaRPr lang="en-US" altLang="ko-KR" dirty="0"/>
          </a:p>
          <a:p>
            <a:pPr lvl="1"/>
            <a:r>
              <a:rPr lang="ko-KR" altLang="en-US" dirty="0"/>
              <a:t>문턱 전압은 소자 제작 중 채널 영역에 이온 주입</a:t>
            </a:r>
            <a:r>
              <a:rPr lang="en-US" altLang="ko-KR" dirty="0"/>
              <a:t>(dopant implantation)</a:t>
            </a:r>
            <a:r>
              <a:rPr lang="ko-KR" altLang="en-US" dirty="0"/>
              <a:t>을 통해 조정할 수 있음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채널 영역을 </a:t>
            </a:r>
            <a:r>
              <a:rPr lang="ko-KR" altLang="en-US" dirty="0" err="1"/>
              <a:t>공핍시키는</a:t>
            </a:r>
            <a:r>
              <a:rPr lang="ko-KR" altLang="en-US" dirty="0"/>
              <a:t> 데 더 높은 게이트 전압이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PMOS </a:t>
            </a:r>
            <a:r>
              <a:rPr lang="ko-KR" altLang="en-US" dirty="0"/>
              <a:t>소자</a:t>
            </a:r>
            <a:r>
              <a:rPr lang="en-US" altLang="ko-KR" dirty="0"/>
              <a:t>: </a:t>
            </a:r>
            <a:r>
              <a:rPr lang="ko-KR" altLang="en-US" dirty="0"/>
              <a:t>모든 극성이 반전됨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2B0AEF-FF98-46BA-8EAC-67E0FCA6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E1A2-DCD5-4B08-A0A0-A17308369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868" y="3013456"/>
            <a:ext cx="2840264" cy="1303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FD4EB3-A35D-4EFA-83C8-63D77683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4926538"/>
            <a:ext cx="43815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1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98380-B9BA-465B-BDBD-37F90375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A853B1-91EB-4A19-BB17-35BDFAC5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I/V </a:t>
            </a:r>
            <a:r>
              <a:rPr lang="ko-KR" altLang="en-US" dirty="0"/>
              <a:t>특성 유도</a:t>
            </a:r>
            <a:endParaRPr lang="en-US" altLang="ko-KR" dirty="0"/>
          </a:p>
          <a:p>
            <a:pPr lvl="1"/>
            <a:r>
              <a:rPr lang="ko-KR" altLang="en-US" dirty="0"/>
              <a:t>전류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전류 방향을 따른 이동 전하 밀도</a:t>
            </a:r>
            <a:r>
              <a:rPr lang="en-US" altLang="ko-KR" dirty="0"/>
              <a:t> </a:t>
            </a:r>
            <a:r>
              <a:rPr lang="en-US" altLang="ko-KR" dirty="0" err="1"/>
              <a:t>Q</a:t>
            </a:r>
            <a:r>
              <a:rPr lang="en-US" altLang="ko-KR" baseline="-25000" dirty="0" err="1"/>
              <a:t>d</a:t>
            </a:r>
            <a:r>
              <a:rPr lang="en-US" altLang="ko-KR" dirty="0"/>
              <a:t> (C/m)</a:t>
            </a:r>
          </a:p>
          <a:p>
            <a:pPr lvl="2"/>
            <a:r>
              <a:rPr lang="ko-KR" altLang="en-US" dirty="0"/>
              <a:t>전하의 속도</a:t>
            </a:r>
            <a:r>
              <a:rPr lang="en-US" altLang="ko-KR" dirty="0"/>
              <a:t>: v (m/s)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5BB61-DB65-4D13-A9B3-CB22C3B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05936-8089-43A3-B321-4DD9FE4F7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64" y="2386498"/>
            <a:ext cx="1333500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F1F5BB-5C07-48F2-8F8B-2BDF864C7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4061928"/>
            <a:ext cx="5524500" cy="12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6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B3F36-0FA0-4AF1-B136-CBD73F22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30979-6CB1-4202-94F6-D27FD99EB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MOSFET </a:t>
            </a:r>
            <a:r>
              <a:rPr lang="ko-KR" altLang="en-US" dirty="0"/>
              <a:t>내의 이동 전하 밀도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MOSFET </a:t>
            </a:r>
            <a:r>
              <a:rPr lang="ko-KR" altLang="en-US" dirty="0"/>
              <a:t>내의 이동 전하 밀도</a:t>
            </a:r>
            <a:r>
              <a:rPr lang="en-US" altLang="ko-KR" dirty="0"/>
              <a:t>: V</a:t>
            </a:r>
            <a:r>
              <a:rPr lang="en-US" altLang="ko-KR" baseline="-25000" dirty="0"/>
              <a:t>GS</a:t>
            </a:r>
            <a:r>
              <a:rPr lang="en-US" altLang="ko-KR" dirty="0"/>
              <a:t> = V</a:t>
            </a:r>
            <a:r>
              <a:rPr lang="en-US" altLang="ko-KR" baseline="-25000" dirty="0"/>
              <a:t>TH </a:t>
            </a:r>
            <a:r>
              <a:rPr lang="ko-KR" altLang="en-US" dirty="0"/>
              <a:t>일 때 반전층이 형성</a:t>
            </a:r>
            <a:endParaRPr lang="en-US" altLang="ko-KR" baseline="-25000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E6892-8FA5-4EAE-9536-07CD3A93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358018D-73B2-4DF9-A251-C4B0FA64F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870" y="2009139"/>
            <a:ext cx="2879725" cy="461166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D0AB311E-8622-467B-9862-DA3226FC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82" y="4197173"/>
            <a:ext cx="5323568" cy="206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64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904B7-A4EB-4A2D-A4D8-55F32D24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4837B6-599E-4AFB-8F57-FEFB7423A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드레인</a:t>
            </a:r>
            <a:r>
              <a:rPr lang="ko-KR" altLang="en-US" dirty="0"/>
              <a:t> 전압이 </a:t>
            </a:r>
            <a:r>
              <a:rPr lang="en-US" altLang="ko-KR" dirty="0"/>
              <a:t>0</a:t>
            </a:r>
            <a:r>
              <a:rPr lang="ko-KR" altLang="en-US" dirty="0"/>
              <a:t>보다 클 때 </a:t>
            </a:r>
            <a:endParaRPr lang="en-US" altLang="ko-KR" dirty="0"/>
          </a:p>
          <a:p>
            <a:pPr lvl="1"/>
            <a:r>
              <a:rPr lang="ko-KR" altLang="en-US" dirty="0"/>
              <a:t>채널 전위는 소스에서 </a:t>
            </a:r>
            <a:r>
              <a:rPr lang="en-US" altLang="ko-KR" dirty="0"/>
              <a:t>0, </a:t>
            </a:r>
            <a:r>
              <a:rPr lang="ko-KR" altLang="en-US" dirty="0" err="1"/>
              <a:t>드레인에서</a:t>
            </a:r>
            <a:r>
              <a:rPr lang="ko-KR" altLang="en-US" dirty="0"/>
              <a:t> </a:t>
            </a:r>
            <a:r>
              <a:rPr lang="en-US" altLang="ko-KR" dirty="0"/>
              <a:t>V</a:t>
            </a:r>
            <a:r>
              <a:rPr lang="en-US" altLang="ko-KR" baseline="-25000" dirty="0"/>
              <a:t>D</a:t>
            </a:r>
            <a:r>
              <a:rPr lang="ko-KR" altLang="en-US" dirty="0"/>
              <a:t>로 변함</a:t>
            </a:r>
            <a:endParaRPr lang="en-US" altLang="ko-KR" dirty="0"/>
          </a:p>
          <a:p>
            <a:pPr lvl="2"/>
            <a:r>
              <a:rPr lang="ko-KR" altLang="en-US" dirty="0"/>
              <a:t>게이트와 채널 사이의 국부적인 전압 차이는 소스 근처에서 </a:t>
            </a:r>
            <a:r>
              <a:rPr lang="en-US" altLang="ko-KR" dirty="0"/>
              <a:t>V</a:t>
            </a:r>
            <a:r>
              <a:rPr lang="en-US" altLang="ko-KR" baseline="-25000" dirty="0"/>
              <a:t>G</a:t>
            </a:r>
            <a:r>
              <a:rPr lang="en-US" altLang="ko-KR" dirty="0"/>
              <a:t>, </a:t>
            </a:r>
            <a:r>
              <a:rPr lang="ko-KR" altLang="en-US" dirty="0" err="1"/>
              <a:t>드레인</a:t>
            </a:r>
            <a:r>
              <a:rPr lang="ko-KR" altLang="en-US" dirty="0"/>
              <a:t> 근처에서 </a:t>
            </a:r>
            <a:r>
              <a:rPr lang="en-US" altLang="ko-KR" dirty="0"/>
              <a:t>V</a:t>
            </a:r>
            <a:r>
              <a:rPr lang="en-US" altLang="ko-KR" baseline="-25000" dirty="0"/>
              <a:t>G</a:t>
            </a:r>
            <a:r>
              <a:rPr lang="en-US" altLang="ko-KR" dirty="0"/>
              <a:t> – V</a:t>
            </a:r>
            <a:r>
              <a:rPr lang="en-US" altLang="ko-KR" baseline="-25000" dirty="0"/>
              <a:t>D </a:t>
            </a:r>
            <a:r>
              <a:rPr lang="ko-KR" altLang="en-US" dirty="0"/>
              <a:t>로 변함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게이트를 따라 위치 </a:t>
            </a:r>
            <a:r>
              <a:rPr lang="en-US" altLang="ko-KR" dirty="0"/>
              <a:t>x</a:t>
            </a:r>
            <a:r>
              <a:rPr lang="ko-KR" altLang="en-US" dirty="0"/>
              <a:t>에서의 전하 밀도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en-US" altLang="ko-KR" dirty="0"/>
              <a:t>V(x): x</a:t>
            </a:r>
            <a:r>
              <a:rPr lang="ko-KR" altLang="en-US" dirty="0"/>
              <a:t>에서의 채널 전위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19A1D8-66C2-44F7-AD8B-FF3D773B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41ACBD8-DB99-47D6-932C-05EEDDB75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81" y="3704696"/>
            <a:ext cx="3221038" cy="347129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A99E47A5-F4A0-4170-BEE4-C20AA3682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4700110"/>
            <a:ext cx="5009470" cy="202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57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DADDE-04E2-45DA-868A-5489B1FE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15F8A-7455-4110-B4F2-37BB926BB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I/V </a:t>
            </a:r>
            <a:r>
              <a:rPr lang="ko-KR" altLang="en-US" dirty="0"/>
              <a:t>특성 유도 </a:t>
            </a:r>
            <a:r>
              <a:rPr lang="en-US" altLang="ko-KR" dirty="0"/>
              <a:t>(Derivation of I/V characteristics)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2A9BCA-9BD2-49F6-BC72-C6747230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D637F-95C0-434C-8DCE-F2C23261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02" y="2034054"/>
            <a:ext cx="3368996" cy="342900"/>
          </a:xfrm>
          <a:prstGeom prst="rect">
            <a:avLst/>
          </a:prstGeom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F2481931-773D-46A3-B521-0474EAD65241}"/>
              </a:ext>
            </a:extLst>
          </p:cNvPr>
          <p:cNvSpPr/>
          <p:nvPr/>
        </p:nvSpPr>
        <p:spPr>
          <a:xfrm>
            <a:off x="5118974" y="1836172"/>
            <a:ext cx="3022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전하 운반자가 음전하를 띠기 때문에 전류 공식에 음수 부호가 삽입됨</a:t>
            </a:r>
            <a:endParaRPr lang="en-US" altLang="ko-KR" sz="14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28A6F881-601A-431A-9F82-3D1F65633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75" y="3531122"/>
            <a:ext cx="4371975" cy="781050"/>
          </a:xfrm>
          <a:prstGeom prst="rect">
            <a:avLst/>
          </a:prstGeom>
        </p:spPr>
      </p:pic>
      <p:cxnSp>
        <p:nvCxnSpPr>
          <p:cNvPr id="8" name="Straight Arrow Connector 10">
            <a:extLst>
              <a:ext uri="{FF2B5EF4-FFF2-40B4-BE49-F238E27FC236}">
                <a16:creationId xmlns:a16="http://schemas.microsoft.com/office/drawing/2014/main" id="{90007E66-D7FF-4E5F-A341-D6A559B01D78}"/>
              </a:ext>
            </a:extLst>
          </p:cNvPr>
          <p:cNvCxnSpPr/>
          <p:nvPr/>
        </p:nvCxnSpPr>
        <p:spPr>
          <a:xfrm>
            <a:off x="3060699" y="2456329"/>
            <a:ext cx="0" cy="97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1">
            <a:extLst>
              <a:ext uri="{FF2B5EF4-FFF2-40B4-BE49-F238E27FC236}">
                <a16:creationId xmlns:a16="http://schemas.microsoft.com/office/drawing/2014/main" id="{9A21ED9C-B089-4EA2-9CDF-631252C9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773632"/>
            <a:ext cx="838200" cy="352425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C645F539-CFD7-4ED4-A2F2-9A0A152D6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802207"/>
            <a:ext cx="1743075" cy="323850"/>
          </a:xfrm>
          <a:prstGeom prst="rect">
            <a:avLst/>
          </a:prstGeom>
        </p:spPr>
      </p:pic>
      <p:cxnSp>
        <p:nvCxnSpPr>
          <p:cNvPr id="11" name="Straight Arrow Connector 13">
            <a:extLst>
              <a:ext uri="{FF2B5EF4-FFF2-40B4-BE49-F238E27FC236}">
                <a16:creationId xmlns:a16="http://schemas.microsoft.com/office/drawing/2014/main" id="{33EC2D18-44D5-4889-982E-A5F7436A2150}"/>
              </a:ext>
            </a:extLst>
          </p:cNvPr>
          <p:cNvCxnSpPr/>
          <p:nvPr/>
        </p:nvCxnSpPr>
        <p:spPr>
          <a:xfrm>
            <a:off x="3060699" y="4424829"/>
            <a:ext cx="0" cy="858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4">
            <a:extLst>
              <a:ext uri="{FF2B5EF4-FFF2-40B4-BE49-F238E27FC236}">
                <a16:creationId xmlns:a16="http://schemas.microsoft.com/office/drawing/2014/main" id="{D4111FA3-2795-4643-848D-096F748DC9F6}"/>
              </a:ext>
            </a:extLst>
          </p:cNvPr>
          <p:cNvSpPr/>
          <p:nvPr/>
        </p:nvSpPr>
        <p:spPr>
          <a:xfrm>
            <a:off x="3336923" y="4374120"/>
            <a:ext cx="36226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경계 조건을 포함한 적분</a:t>
            </a:r>
            <a:endParaRPr lang="en-US" altLang="ko-KR" sz="1400" dirty="0"/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A09CBDFE-BD4E-4C42-A31F-41665A7D9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365" y="4789890"/>
            <a:ext cx="2572464" cy="373853"/>
          </a:xfrm>
          <a:prstGeom prst="rect">
            <a:avLst/>
          </a:prstGeom>
        </p:spPr>
      </p:pic>
      <p:pic>
        <p:nvPicPr>
          <p:cNvPr id="14" name="Picture 16">
            <a:extLst>
              <a:ext uri="{FF2B5EF4-FFF2-40B4-BE49-F238E27FC236}">
                <a16:creationId xmlns:a16="http://schemas.microsoft.com/office/drawing/2014/main" id="{7D3D53F1-F0D8-4BBB-904C-831BD51F4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315008"/>
            <a:ext cx="4819603" cy="675087"/>
          </a:xfrm>
          <a:prstGeom prst="rect">
            <a:avLst/>
          </a:prstGeom>
        </p:spPr>
      </p:pic>
      <p:pic>
        <p:nvPicPr>
          <p:cNvPr id="15" name="Picture 19">
            <a:extLst>
              <a:ext uri="{FF2B5EF4-FFF2-40B4-BE49-F238E27FC236}">
                <a16:creationId xmlns:a16="http://schemas.microsoft.com/office/drawing/2014/main" id="{3CCF7342-A0D6-4435-9CFF-F56CE24334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349" y="3351215"/>
            <a:ext cx="4387138" cy="7356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Rectangle 20">
            <a:extLst>
              <a:ext uri="{FF2B5EF4-FFF2-40B4-BE49-F238E27FC236}">
                <a16:creationId xmlns:a16="http://schemas.microsoft.com/office/drawing/2014/main" id="{663474F5-C1E3-439B-81BF-74A0DDEFC51F}"/>
              </a:ext>
            </a:extLst>
          </p:cNvPr>
          <p:cNvSpPr/>
          <p:nvPr/>
        </p:nvSpPr>
        <p:spPr>
          <a:xfrm>
            <a:off x="8589361" y="4168586"/>
            <a:ext cx="28954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채널을 따라 소자 전류</a:t>
            </a:r>
            <a:r>
              <a:rPr lang="en-US" altLang="ko-KR" sz="1400" dirty="0"/>
              <a:t>(I</a:t>
            </a:r>
            <a:r>
              <a:rPr lang="en-US" altLang="ko-KR" sz="1400" baseline="-25000" dirty="0"/>
              <a:t>D</a:t>
            </a:r>
            <a:r>
              <a:rPr lang="en-US" altLang="ko-KR" sz="1400" dirty="0"/>
              <a:t>)</a:t>
            </a:r>
            <a:r>
              <a:rPr lang="ko-KR" altLang="en-US" sz="1400" dirty="0"/>
              <a:t>는 일정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A848A-3749-4DFD-BBD4-EB6E0146B795}"/>
              </a:ext>
            </a:extLst>
          </p:cNvPr>
          <p:cNvSpPr txBox="1"/>
          <p:nvPr/>
        </p:nvSpPr>
        <p:spPr>
          <a:xfrm>
            <a:off x="816317" y="201620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E80919-D6DB-4A53-AA0C-CD2950E0A2B6}"/>
              </a:ext>
            </a:extLst>
          </p:cNvPr>
          <p:cNvSpPr txBox="1"/>
          <p:nvPr/>
        </p:nvSpPr>
        <p:spPr>
          <a:xfrm>
            <a:off x="437825" y="373698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BE1C59-876F-477F-BFA0-BCE7BA7544AF}"/>
              </a:ext>
            </a:extLst>
          </p:cNvPr>
          <p:cNvSpPr txBox="1"/>
          <p:nvPr/>
        </p:nvSpPr>
        <p:spPr>
          <a:xfrm>
            <a:off x="335005" y="5457759"/>
            <a:ext cx="37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</a:t>
            </a:r>
            <a:endParaRPr lang="ko-KR" altLang="en-US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7F7AE945-FB5A-4921-9D80-045006B4C5F0}"/>
              </a:ext>
            </a:extLst>
          </p:cNvPr>
          <p:cNvSpPr/>
          <p:nvPr/>
        </p:nvSpPr>
        <p:spPr>
          <a:xfrm>
            <a:off x="6449829" y="3351215"/>
            <a:ext cx="729902" cy="9082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199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FC44B-DB8F-4D55-B034-B95B2B9A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76F39-B1C0-4EC4-B219-E19871212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전류 그래프</a:t>
            </a:r>
            <a:endParaRPr lang="en-US" altLang="ko-KR" dirty="0"/>
          </a:p>
          <a:p>
            <a:pPr lvl="1"/>
            <a:r>
              <a:rPr lang="ko-KR" altLang="en-US" dirty="0"/>
              <a:t>서로 다른 </a:t>
            </a:r>
            <a:r>
              <a:rPr lang="en-US" altLang="ko-KR" dirty="0"/>
              <a:t>V</a:t>
            </a:r>
            <a:r>
              <a:rPr lang="en-US" altLang="ko-KR" baseline="-25000" dirty="0"/>
              <a:t>GS</a:t>
            </a:r>
            <a:r>
              <a:rPr lang="ko-KR" altLang="en-US" dirty="0"/>
              <a:t>에 대한 포물선</a:t>
            </a:r>
            <a:endParaRPr lang="en-US" altLang="ko-KR" dirty="0"/>
          </a:p>
          <a:p>
            <a:pPr lvl="2"/>
            <a:r>
              <a:rPr lang="ko-KR" altLang="en-US" dirty="0"/>
              <a:t>장치의 전류 용량은 </a:t>
            </a:r>
            <a:r>
              <a:rPr lang="en-US" altLang="ko-KR" dirty="0"/>
              <a:t>V</a:t>
            </a:r>
            <a:r>
              <a:rPr lang="en-US" altLang="ko-KR" baseline="-25000" dirty="0"/>
              <a:t>GS</a:t>
            </a:r>
            <a:r>
              <a:rPr lang="ko-KR" altLang="en-US" dirty="0"/>
              <a:t>가 증가함에 따라 증가</a:t>
            </a:r>
            <a:endParaRPr lang="en-US" altLang="ko-KR" dirty="0"/>
          </a:p>
          <a:p>
            <a:pPr lvl="2"/>
            <a:r>
              <a:rPr lang="ko-KR" altLang="en-US" dirty="0"/>
              <a:t>각 포물선의 정점은 </a:t>
            </a:r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en-US" altLang="ko-KR" dirty="0"/>
              <a:t> = V</a:t>
            </a:r>
            <a:r>
              <a:rPr lang="en-US" altLang="ko-KR" baseline="-25000" dirty="0"/>
              <a:t>GS</a:t>
            </a:r>
            <a:r>
              <a:rPr lang="en-US" altLang="ko-KR" dirty="0"/>
              <a:t> – V</a:t>
            </a:r>
            <a:r>
              <a:rPr lang="en-US" altLang="ko-KR" baseline="-25000" dirty="0"/>
              <a:t>TH</a:t>
            </a:r>
            <a:r>
              <a:rPr lang="ko-KR" altLang="en-US" dirty="0"/>
              <a:t>에서 나타남</a:t>
            </a:r>
            <a:endParaRPr lang="en-US" altLang="ko-KR" dirty="0"/>
          </a:p>
          <a:p>
            <a:pPr lvl="2"/>
            <a:r>
              <a:rPr lang="ko-KR" altLang="en-US" dirty="0"/>
              <a:t>최대 전류</a:t>
            </a:r>
            <a:endParaRPr lang="en-US" altLang="ko-KR" dirty="0"/>
          </a:p>
          <a:p>
            <a:pPr lvl="4"/>
            <a:endParaRPr lang="en-US" altLang="ko-KR" dirty="0"/>
          </a:p>
          <a:p>
            <a:pPr lvl="3"/>
            <a:endParaRPr lang="en-US" altLang="ko-KR" dirty="0">
              <a:solidFill>
                <a:srgbClr val="00B050"/>
              </a:solidFill>
            </a:endParaRPr>
          </a:p>
          <a:p>
            <a:pPr lvl="3"/>
            <a:r>
              <a:rPr lang="ko-KR" altLang="en-US" dirty="0"/>
              <a:t>과전압</a:t>
            </a:r>
            <a:r>
              <a:rPr lang="en-US" altLang="ko-KR" dirty="0"/>
              <a:t>: V</a:t>
            </a:r>
            <a:r>
              <a:rPr lang="en-US" altLang="ko-KR" baseline="-25000" dirty="0"/>
              <a:t>GS</a:t>
            </a:r>
            <a:r>
              <a:rPr lang="en-US" altLang="ko-KR" dirty="0"/>
              <a:t> - V</a:t>
            </a:r>
            <a:r>
              <a:rPr lang="en-US" altLang="ko-KR" baseline="-25000" dirty="0"/>
              <a:t>TH</a:t>
            </a:r>
            <a:endParaRPr lang="ko-KR" altLang="en-US" baseline="-25000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D9FF3-3484-41F1-98A2-7C18D21D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FC1E0AB-CAA3-4641-B100-61DF08C6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924" y="3055278"/>
            <a:ext cx="2978151" cy="572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85E61-142F-403E-BDCB-0D352E838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661" y="4166971"/>
            <a:ext cx="3368675" cy="262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32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1A04A-5997-4084-BCCD-91DAB0A1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0578B-588E-4C50-80E9-7EA6629A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동작 영역별 특성</a:t>
            </a:r>
            <a:endParaRPr lang="en-US" altLang="ko-KR" dirty="0"/>
          </a:p>
          <a:p>
            <a:pPr lvl="1"/>
            <a:r>
              <a:rPr lang="ko-KR" altLang="en-US" dirty="0" err="1"/>
              <a:t>저항으로서의</a:t>
            </a:r>
            <a:r>
              <a:rPr lang="ko-KR" altLang="en-US" dirty="0"/>
              <a:t> </a:t>
            </a:r>
            <a:r>
              <a:rPr lang="en-US" altLang="ko-KR" dirty="0"/>
              <a:t>MOSFET (</a:t>
            </a:r>
            <a:r>
              <a:rPr lang="ko-KR" altLang="en-US" dirty="0" err="1"/>
              <a:t>트라이오드</a:t>
            </a:r>
            <a:r>
              <a:rPr lang="en-US" altLang="ko-KR" dirty="0"/>
              <a:t>/</a:t>
            </a:r>
            <a:r>
              <a:rPr lang="ko-KR" altLang="en-US" dirty="0"/>
              <a:t>선형 영역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en-US" altLang="ko-KR" dirty="0"/>
              <a:t> ≪ 2(V</a:t>
            </a:r>
            <a:r>
              <a:rPr lang="en-US" altLang="ko-KR" baseline="-25000" dirty="0"/>
              <a:t>GS</a:t>
            </a:r>
            <a:r>
              <a:rPr lang="en-US" altLang="ko-KR" dirty="0"/>
              <a:t> - V</a:t>
            </a:r>
            <a:r>
              <a:rPr lang="en-US" altLang="ko-KR" baseline="-25000" dirty="0"/>
              <a:t>TH</a:t>
            </a:r>
            <a:r>
              <a:rPr lang="en-US" altLang="ko-KR" dirty="0"/>
              <a:t>) </a:t>
            </a:r>
            <a:r>
              <a:rPr lang="ko-KR" altLang="en-US" dirty="0"/>
              <a:t>인 경우</a:t>
            </a:r>
            <a:r>
              <a:rPr lang="en-US" altLang="ko-KR" dirty="0"/>
              <a:t>, </a:t>
            </a:r>
            <a:r>
              <a:rPr lang="ko-KR" altLang="en-US" dirty="0" err="1"/>
              <a:t>드레인</a:t>
            </a:r>
            <a:r>
              <a:rPr lang="ko-KR" altLang="en-US" dirty="0"/>
              <a:t> 전류는 </a:t>
            </a:r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ko-KR" altLang="en-US" dirty="0"/>
              <a:t>의 선형 함수가 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 err="1"/>
              <a:t>과구동</a:t>
            </a:r>
            <a:r>
              <a:rPr lang="ko-KR" altLang="en-US" dirty="0"/>
              <a:t> 전압</a:t>
            </a:r>
            <a:r>
              <a:rPr lang="en-US" altLang="ko-KR" dirty="0"/>
              <a:t>(Overdrive voltage, V</a:t>
            </a:r>
            <a:r>
              <a:rPr lang="en-US" altLang="ko-KR" baseline="-25000" dirty="0"/>
              <a:t>GS</a:t>
            </a:r>
            <a:r>
              <a:rPr lang="en-US" altLang="ko-KR" dirty="0"/>
              <a:t> - V</a:t>
            </a:r>
            <a:r>
              <a:rPr lang="en-US" altLang="ko-KR" baseline="-25000" dirty="0"/>
              <a:t>TH</a:t>
            </a:r>
            <a:r>
              <a:rPr lang="en-US" altLang="ko-KR" dirty="0"/>
              <a:t>)</a:t>
            </a:r>
            <a:r>
              <a:rPr lang="ko-KR" altLang="en-US" dirty="0"/>
              <a:t>에 의해 값이 제어되는 저항으로 동작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78D08-A514-4142-B5AC-7C2C1C89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72AC0-CEED-4120-B20B-BAA47C49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411" y="2741386"/>
            <a:ext cx="2543175" cy="523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DF0121-53D3-40AE-9B0E-4A1964946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37" y="4016512"/>
            <a:ext cx="2371725" cy="809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B72F9A-2DAF-49FD-9D9E-A4B6D0F8D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573" y="4826137"/>
            <a:ext cx="4162427" cy="1930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D8FD6A-7D46-4E80-B935-DC5C88E11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543" y="4772525"/>
            <a:ext cx="33813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35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ED184-CFC5-4F38-884B-6B5C4C1D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9F46B-DA9A-41D5-BBCD-B6E3F240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포화 영역 </a:t>
            </a:r>
            <a:r>
              <a:rPr lang="en-US" altLang="ko-KR" dirty="0"/>
              <a:t>(Saturation region)</a:t>
            </a:r>
          </a:p>
          <a:p>
            <a:pPr lvl="2"/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en-US" altLang="ko-KR" dirty="0"/>
              <a:t> &gt; V</a:t>
            </a:r>
            <a:r>
              <a:rPr lang="en-US" altLang="ko-KR" baseline="-25000" dirty="0"/>
              <a:t>GS</a:t>
            </a:r>
            <a:r>
              <a:rPr lang="en-US" altLang="ko-KR" dirty="0"/>
              <a:t> – V</a:t>
            </a:r>
            <a:r>
              <a:rPr lang="en-US" altLang="ko-KR" baseline="-25000" dirty="0"/>
              <a:t>TH</a:t>
            </a:r>
            <a:r>
              <a:rPr lang="en-US" altLang="ko-KR" dirty="0"/>
              <a:t> </a:t>
            </a:r>
            <a:r>
              <a:rPr lang="ko-KR" altLang="en-US" dirty="0"/>
              <a:t>일 때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ko-KR" altLang="en-US" dirty="0"/>
              <a:t>는 비교적 일정해짐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690011-571C-4DEE-BBCD-08D080E9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84016-9045-48D2-9271-DE7E4619D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09" y="2778403"/>
            <a:ext cx="3710782" cy="26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53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B2E90-0C4C-4125-AE48-802690D8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EC6A1-0318-4E86-80C5-C42BFD0D0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핀치오프 </a:t>
            </a:r>
            <a:r>
              <a:rPr lang="en-US" altLang="ko-KR" dirty="0"/>
              <a:t>(Pinch-off)</a:t>
            </a:r>
          </a:p>
          <a:p>
            <a:pPr lvl="2"/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 err="1"/>
              <a:t>과구동</a:t>
            </a:r>
            <a:r>
              <a:rPr lang="ko-KR" altLang="en-US" dirty="0"/>
              <a:t> 전압</a:t>
            </a:r>
            <a:r>
              <a:rPr lang="en-US" altLang="ko-KR" dirty="0"/>
              <a:t> (V</a:t>
            </a:r>
            <a:r>
              <a:rPr lang="en-US" altLang="ko-KR" baseline="-25000" dirty="0"/>
              <a:t>OV</a:t>
            </a:r>
            <a:r>
              <a:rPr lang="en-US" altLang="ko-KR" dirty="0"/>
              <a:t> =  V</a:t>
            </a:r>
            <a:r>
              <a:rPr lang="en-US" altLang="ko-KR" baseline="-25000" dirty="0"/>
              <a:t>GS</a:t>
            </a:r>
            <a:r>
              <a:rPr lang="en-US" altLang="ko-KR" dirty="0"/>
              <a:t> – V</a:t>
            </a:r>
            <a:r>
              <a:rPr lang="en-US" altLang="ko-KR" baseline="-25000" dirty="0"/>
              <a:t>TH</a:t>
            </a:r>
            <a:r>
              <a:rPr lang="en-US" altLang="ko-KR" dirty="0"/>
              <a:t>) </a:t>
            </a:r>
            <a:r>
              <a:rPr lang="ko-KR" altLang="en-US" dirty="0"/>
              <a:t>보다 커지면 핀치오프가 발생</a:t>
            </a:r>
            <a:endParaRPr lang="en-US" altLang="ko-KR" dirty="0"/>
          </a:p>
          <a:p>
            <a:pPr lvl="3"/>
            <a:r>
              <a:rPr lang="ko-KR" altLang="en-US" dirty="0"/>
              <a:t>역전층은 </a:t>
            </a:r>
            <a:r>
              <a:rPr lang="en-US" altLang="ko-KR" dirty="0"/>
              <a:t>x ≤ L</a:t>
            </a:r>
            <a:r>
              <a:rPr lang="ko-KR" altLang="en-US" dirty="0"/>
              <a:t>에서 멈춤</a:t>
            </a:r>
            <a:endParaRPr lang="en-US" altLang="ko-KR" dirty="0"/>
          </a:p>
          <a:p>
            <a:pPr lvl="2"/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ko-KR" altLang="en-US" dirty="0"/>
              <a:t>가 더욱 증가함에 따라</a:t>
            </a:r>
            <a:r>
              <a:rPr lang="en-US" altLang="ko-KR" dirty="0"/>
              <a:t>, </a:t>
            </a:r>
            <a:r>
              <a:rPr lang="en-US" altLang="ko-KR" dirty="0" err="1"/>
              <a:t>Q</a:t>
            </a:r>
            <a:r>
              <a:rPr lang="en-US" altLang="ko-KR" baseline="-25000" dirty="0" err="1"/>
              <a:t>d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이 되는 지점은 점차 소스 쪽으로 이동</a:t>
            </a:r>
            <a:endParaRPr lang="en-US" altLang="ko-KR" dirty="0"/>
          </a:p>
          <a:p>
            <a:pPr lvl="2"/>
            <a:r>
              <a:rPr lang="ko-KR" altLang="en-US" dirty="0"/>
              <a:t>전자가 </a:t>
            </a:r>
            <a:r>
              <a:rPr lang="ko-KR" altLang="en-US" dirty="0" err="1"/>
              <a:t>드레인</a:t>
            </a:r>
            <a:r>
              <a:rPr lang="ko-KR" altLang="en-US" dirty="0"/>
              <a:t> 접합 근처의 핀치오프 지점</a:t>
            </a:r>
            <a:r>
              <a:rPr lang="en-US" altLang="ko-KR" dirty="0"/>
              <a:t>(</a:t>
            </a:r>
            <a:r>
              <a:rPr lang="en-US" altLang="ko-KR" dirty="0" err="1"/>
              <a:t>Q</a:t>
            </a:r>
            <a:r>
              <a:rPr lang="en-US" altLang="ko-KR" baseline="-25000" dirty="0" err="1"/>
              <a:t>d</a:t>
            </a:r>
            <a:r>
              <a:rPr lang="en-US" altLang="ko-KR" dirty="0"/>
              <a:t> -&gt; 0 )</a:t>
            </a:r>
            <a:r>
              <a:rPr lang="ko-KR" altLang="en-US" dirty="0"/>
              <a:t>에 접근하면 속도가 엄청나게 증가</a:t>
            </a:r>
            <a:r>
              <a:rPr lang="en-US" altLang="ko-KR" dirty="0"/>
              <a:t> (v = I/</a:t>
            </a:r>
            <a:r>
              <a:rPr lang="en-US" altLang="ko-KR" dirty="0" err="1"/>
              <a:t>Q</a:t>
            </a:r>
            <a:r>
              <a:rPr lang="en-US" altLang="ko-KR" baseline="-25000" dirty="0" err="1"/>
              <a:t>d</a:t>
            </a:r>
            <a:r>
              <a:rPr lang="en-US" altLang="ko-KR" dirty="0"/>
              <a:t>)</a:t>
            </a:r>
            <a:r>
              <a:rPr lang="ko-KR" altLang="en-US" dirty="0"/>
              <a:t>하며 </a:t>
            </a:r>
            <a:r>
              <a:rPr lang="ko-KR" altLang="en-US" dirty="0" err="1"/>
              <a:t>드레인</a:t>
            </a:r>
            <a:r>
              <a:rPr lang="ko-KR" altLang="en-US" dirty="0"/>
              <a:t> </a:t>
            </a:r>
            <a:r>
              <a:rPr lang="ko-KR" altLang="en-US" dirty="0" err="1"/>
              <a:t>공핍</a:t>
            </a:r>
            <a:r>
              <a:rPr lang="ko-KR" altLang="en-US" dirty="0"/>
              <a:t> 영역을 쏘아지듯 통과함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967E1F-F50C-4927-BFB2-D5CC0174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9CA46-9D64-4C27-876C-805AC89CA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756" y="3778515"/>
            <a:ext cx="6948488" cy="240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36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96819-0ED9-4076-AE17-49F9F0C9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418FA8-B69A-423B-8FA0-ACB3B8882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포화 영역에서의 전류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L'</a:t>
            </a:r>
            <a:r>
              <a:rPr lang="ko-KR" altLang="en-US" dirty="0"/>
              <a:t>가 </a:t>
            </a:r>
            <a:r>
              <a:rPr lang="en-US" altLang="ko-KR" dirty="0"/>
              <a:t>L</a:t>
            </a:r>
            <a:r>
              <a:rPr lang="ko-KR" altLang="en-US" dirty="0"/>
              <a:t>에 가까운 상태를 유지한다면</a:t>
            </a:r>
            <a:r>
              <a:rPr lang="en-US" altLang="ko-KR" dirty="0"/>
              <a:t>, I</a:t>
            </a:r>
            <a:r>
              <a:rPr lang="en-US" altLang="ko-KR" baseline="-25000" dirty="0"/>
              <a:t>d</a:t>
            </a:r>
            <a:r>
              <a:rPr lang="ko-KR" altLang="en-US" dirty="0"/>
              <a:t>는 </a:t>
            </a:r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ko-KR" altLang="en-US" dirty="0"/>
              <a:t>와 비교적 독립적</a:t>
            </a:r>
            <a:endParaRPr lang="en-US" altLang="ko-KR" dirty="0"/>
          </a:p>
          <a:p>
            <a:pPr lvl="2"/>
            <a:r>
              <a:rPr lang="en-US" altLang="ko-KR" dirty="0"/>
              <a:t>Square-law </a:t>
            </a:r>
            <a:r>
              <a:rPr lang="ko-KR" altLang="en-US" dirty="0"/>
              <a:t>관계를 가짐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ko-KR" altLang="en-US" dirty="0"/>
              <a:t>를 알고 있으면 </a:t>
            </a:r>
            <a:r>
              <a:rPr lang="en-US" altLang="ko-KR" dirty="0"/>
              <a:t>V</a:t>
            </a:r>
            <a:r>
              <a:rPr lang="en-US" altLang="ko-KR" baseline="-25000" dirty="0"/>
              <a:t>GS</a:t>
            </a:r>
            <a:r>
              <a:rPr lang="ko-KR" altLang="en-US" dirty="0"/>
              <a:t>를 얻을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285DAE-53B4-4727-B927-681262BB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AFA1C7F-3B88-4931-97C7-0C119DFB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567" y="2006600"/>
            <a:ext cx="4038600" cy="609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8F4346-1F44-4659-9626-AE224E56FA01}"/>
              </a:ext>
            </a:extLst>
          </p:cNvPr>
          <p:cNvCxnSpPr>
            <a:stCxn id="6" idx="2"/>
          </p:cNvCxnSpPr>
          <p:nvPr/>
        </p:nvCxnSpPr>
        <p:spPr>
          <a:xfrm>
            <a:off x="4605867" y="2616200"/>
            <a:ext cx="0" cy="520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FCF672F-523E-49AF-AC73-EC5E3C555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617" y="3281293"/>
            <a:ext cx="2476500" cy="533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3F5872-17A5-47AF-BA21-6C2DEF67FAA6}"/>
              </a:ext>
            </a:extLst>
          </p:cNvPr>
          <p:cNvSpPr txBox="1"/>
          <p:nvPr/>
        </p:nvSpPr>
        <p:spPr>
          <a:xfrm>
            <a:off x="5844117" y="2604815"/>
            <a:ext cx="3130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x = 0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에서 </a:t>
            </a:r>
            <a:r>
              <a:rPr lang="en-US" altLang="ko-KR" sz="1400" b="0" i="0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Qd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가 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이 되는 지점인 </a:t>
            </a:r>
            <a:r>
              <a:rPr lang="en-US" altLang="ko-KR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x = L’</a:t>
            </a:r>
            <a:r>
              <a:rPr lang="ko-KR" altLang="en-US" sz="1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까지 적분</a:t>
            </a:r>
            <a:endParaRPr lang="ko-KR" alt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8A2701-79BF-4BC4-AA67-E10B05DC3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167" y="5049308"/>
            <a:ext cx="21907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36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D7C3E-CB9E-4036-A963-AA610D96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68B20F-25ED-4663-9521-C35B42218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PMOS </a:t>
            </a:r>
            <a:r>
              <a:rPr lang="ko-KR" altLang="en-US" dirty="0"/>
              <a:t>소자로부터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endParaRPr lang="en-US" altLang="ko-KR" dirty="0">
              <a:solidFill>
                <a:srgbClr val="00B050"/>
              </a:solidFill>
            </a:endParaRPr>
          </a:p>
          <a:p>
            <a:r>
              <a:rPr lang="ko-KR" altLang="en-US" dirty="0" err="1"/>
              <a:t>전류원으로서의</a:t>
            </a:r>
            <a:r>
              <a:rPr lang="ko-KR" altLang="en-US" dirty="0"/>
              <a:t> </a:t>
            </a:r>
            <a:r>
              <a:rPr lang="en-US" altLang="ko-KR" dirty="0"/>
              <a:t>MOSFET</a:t>
            </a:r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을 일정하다고 가정할 때</a:t>
            </a:r>
            <a:r>
              <a:rPr lang="en-US" altLang="ko-KR" dirty="0"/>
              <a:t>, </a:t>
            </a:r>
            <a:r>
              <a:rPr lang="ko-KR" altLang="en-US" dirty="0"/>
              <a:t>포화 영역에서 동작하는 </a:t>
            </a:r>
            <a:r>
              <a:rPr lang="en-US" altLang="ko-KR" dirty="0"/>
              <a:t>MOSFET</a:t>
            </a:r>
            <a:r>
              <a:rPr lang="ko-KR" altLang="en-US" dirty="0"/>
              <a:t>을 </a:t>
            </a:r>
            <a:r>
              <a:rPr lang="ko-KR" altLang="en-US" dirty="0" err="1"/>
              <a:t>드레인과</a:t>
            </a:r>
            <a:r>
              <a:rPr lang="ko-KR" altLang="en-US" dirty="0"/>
              <a:t> 소스 사이에 연결하여 전류원으로 사용할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00E943-096E-4DA9-8F94-41CB83E3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A06E2124-649C-423C-9EEC-06C178FA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33" y="1857375"/>
            <a:ext cx="3657600" cy="704850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B8B12DA8-E221-482B-9880-D2BF4DC3D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370" y="1919287"/>
            <a:ext cx="2676525" cy="581025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D42CA766-2761-4A60-975A-A4058737A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537" y="4357689"/>
            <a:ext cx="51149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91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27190-9533-482D-8C31-446BA747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C9E25-0B53-43A6-A90D-80B67A70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전달 </a:t>
            </a:r>
            <a:r>
              <a:rPr lang="ko-KR" altLang="en-US" dirty="0" err="1"/>
              <a:t>컨덕턴스</a:t>
            </a:r>
            <a:r>
              <a:rPr lang="ko-KR" altLang="en-US" dirty="0"/>
              <a:t> </a:t>
            </a:r>
            <a:r>
              <a:rPr lang="en-US" altLang="ko-KR" dirty="0"/>
              <a:t>(MOS transconductance, gm)</a:t>
            </a:r>
          </a:p>
          <a:p>
            <a:pPr lvl="1"/>
            <a:r>
              <a:rPr lang="ko-KR" altLang="en-US" dirty="0"/>
              <a:t>소자가 전압을 전류로 얼마나 잘 변환하는지를 나타내는 성능 지표</a:t>
            </a:r>
            <a:endParaRPr lang="en-US" altLang="ko-KR" dirty="0">
              <a:solidFill>
                <a:srgbClr val="00B050"/>
              </a:solidFill>
            </a:endParaRPr>
          </a:p>
          <a:p>
            <a:pPr lvl="2"/>
            <a:r>
              <a:rPr lang="en-US" altLang="ko-KR" dirty="0"/>
              <a:t>NMOS</a:t>
            </a:r>
            <a:r>
              <a:rPr lang="ko-KR" altLang="en-US" dirty="0"/>
              <a:t> 전달 </a:t>
            </a:r>
            <a:r>
              <a:rPr lang="ko-KR" altLang="en-US" dirty="0" err="1"/>
              <a:t>컨덕턴스</a:t>
            </a:r>
            <a:r>
              <a:rPr lang="en-US" altLang="ko-KR" dirty="0"/>
              <a:t> g</a:t>
            </a:r>
            <a:r>
              <a:rPr lang="en-US" altLang="ko-KR" baseline="-25000" dirty="0"/>
              <a:t>m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다른 매개변수들이 일정하게 유지될 때 한 매개변수에 대한 함수로 </a:t>
            </a:r>
            <a:r>
              <a:rPr lang="en-US" altLang="ko-KR" dirty="0"/>
              <a:t>g</a:t>
            </a:r>
            <a:r>
              <a:rPr lang="en-US" altLang="ko-KR" baseline="-25000" dirty="0"/>
              <a:t>m</a:t>
            </a:r>
            <a:r>
              <a:rPr lang="ko-KR" altLang="en-US" dirty="0"/>
              <a:t>을 표현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FAE62C-2085-4A6A-BCCF-FDD77DE3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38259-7583-4138-8FF4-ECC92D26D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434" y="2684462"/>
            <a:ext cx="2476500" cy="1133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E6E548-68A7-432E-963F-FD49A2940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34" y="2659061"/>
            <a:ext cx="1866900" cy="115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5DC60-46C5-400F-B38B-4EB61E84B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871" y="4507615"/>
            <a:ext cx="6130925" cy="16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28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1861C-44BE-49A3-AC0C-E2D0CA56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효과 </a:t>
            </a:r>
            <a:r>
              <a:rPr lang="en-US" altLang="ko-KR" dirty="0"/>
              <a:t>(Second-Order Effects)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AA5E7-805D-47F5-A29C-7EBB3EEE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바디 효과 </a:t>
            </a:r>
            <a:r>
              <a:rPr lang="en-US" altLang="ko-KR" dirty="0"/>
              <a:t>(Body effect)</a:t>
            </a:r>
            <a:endParaRPr lang="en-US" altLang="ko-KR" dirty="0">
              <a:solidFill>
                <a:srgbClr val="00B050"/>
              </a:solidFill>
            </a:endParaRP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NFET</a:t>
            </a:r>
          </a:p>
          <a:p>
            <a:pPr lvl="2"/>
            <a:r>
              <a:rPr lang="en-US" altLang="ko-KR" dirty="0"/>
              <a:t>V</a:t>
            </a:r>
            <a:r>
              <a:rPr lang="en-US" altLang="ko-KR" baseline="-25000" dirty="0"/>
              <a:t>B</a:t>
            </a:r>
            <a:r>
              <a:rPr lang="ko-KR" altLang="en-US" dirty="0"/>
              <a:t>가 더 음의 방향으로 변함에 따라</a:t>
            </a:r>
            <a:r>
              <a:rPr lang="en-US" altLang="ko-KR" dirty="0"/>
              <a:t>, </a:t>
            </a:r>
            <a:r>
              <a:rPr lang="ko-KR" altLang="en-US" dirty="0"/>
              <a:t>더 많은 정공이 기판 연결부로 </a:t>
            </a:r>
            <a:r>
              <a:rPr lang="ko-KR" altLang="en-US" dirty="0" err="1"/>
              <a:t>끌려옴</a:t>
            </a:r>
            <a:endParaRPr lang="en-US" altLang="ko-KR" dirty="0"/>
          </a:p>
          <a:p>
            <a:pPr lvl="3"/>
            <a:r>
              <a:rPr lang="ko-KR" altLang="en-US" dirty="0" err="1"/>
              <a:t>공핍</a:t>
            </a:r>
            <a:r>
              <a:rPr lang="ko-KR" altLang="en-US" dirty="0"/>
              <a:t> </a:t>
            </a:r>
            <a:r>
              <a:rPr lang="ko-KR" altLang="en-US" dirty="0" err="1"/>
              <a:t>역역이</a:t>
            </a:r>
            <a:r>
              <a:rPr lang="ko-KR" altLang="en-US" dirty="0"/>
              <a:t> 넓어짐</a:t>
            </a:r>
            <a:endParaRPr lang="en-US" altLang="ko-KR" dirty="0"/>
          </a:p>
          <a:p>
            <a:pPr lvl="3"/>
            <a:r>
              <a:rPr lang="en-US" altLang="ko-KR" dirty="0"/>
              <a:t>V</a:t>
            </a:r>
            <a:r>
              <a:rPr lang="en-US" altLang="ko-KR" baseline="-25000" dirty="0"/>
              <a:t>B</a:t>
            </a:r>
            <a:r>
              <a:rPr lang="en-US" altLang="ko-KR" dirty="0"/>
              <a:t> </a:t>
            </a:r>
            <a:r>
              <a:rPr lang="ko-KR" altLang="en-US" dirty="0"/>
              <a:t>떨어짐</a:t>
            </a:r>
            <a:r>
              <a:rPr lang="en-US" altLang="ko-KR" dirty="0"/>
              <a:t> -&gt; </a:t>
            </a:r>
            <a:r>
              <a:rPr lang="ko-KR" altLang="en-US" dirty="0" err="1"/>
              <a:t>정공수</a:t>
            </a:r>
            <a:r>
              <a:rPr lang="ko-KR" altLang="en-US" dirty="0"/>
              <a:t> </a:t>
            </a:r>
            <a:r>
              <a:rPr lang="en-US" altLang="ko-KR" dirty="0" err="1"/>
              <a:t>Q</a:t>
            </a:r>
            <a:r>
              <a:rPr lang="en-US" altLang="ko-KR" baseline="-25000" dirty="0" err="1"/>
              <a:t>d</a:t>
            </a:r>
            <a:r>
              <a:rPr lang="en-US" altLang="ko-KR" dirty="0"/>
              <a:t> </a:t>
            </a:r>
            <a:r>
              <a:rPr lang="ko-KR" altLang="en-US" dirty="0"/>
              <a:t>증가</a:t>
            </a:r>
            <a:r>
              <a:rPr lang="en-US" altLang="ko-KR" dirty="0"/>
              <a:t> -&gt; V</a:t>
            </a:r>
            <a:r>
              <a:rPr lang="en-US" altLang="ko-KR" baseline="-25000" dirty="0"/>
              <a:t>TH</a:t>
            </a:r>
            <a:r>
              <a:rPr lang="en-US" altLang="ko-KR" dirty="0"/>
              <a:t> </a:t>
            </a:r>
            <a:r>
              <a:rPr lang="ko-KR" altLang="en-US" dirty="0"/>
              <a:t>증가</a:t>
            </a:r>
            <a:r>
              <a:rPr lang="en-US" altLang="ko-KR" dirty="0"/>
              <a:t> (</a:t>
            </a:r>
            <a:r>
              <a:rPr lang="ko-KR" alt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반전층을 형성하는 데 더 높은 게이트 전압이 필요함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바디 효과 또는 백 게이트 효과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소스</a:t>
            </a:r>
            <a:r>
              <a:rPr lang="en-US" altLang="ko-KR" dirty="0"/>
              <a:t>-</a:t>
            </a:r>
            <a:r>
              <a:rPr lang="ko-KR" altLang="en-US" dirty="0" err="1"/>
              <a:t>벌크</a:t>
            </a:r>
            <a:r>
              <a:rPr lang="ko-KR" altLang="en-US" dirty="0"/>
              <a:t> 전압은 입력 레벨에 따라 변함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236D4C-AB55-4B81-AA05-7EACDC7E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DA3D8-25ED-40F9-8613-657B8F72C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201" y="4515629"/>
            <a:ext cx="6469063" cy="2023283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753E833-46FB-4D51-A08B-297091F63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432" y="3310453"/>
            <a:ext cx="4151535" cy="53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06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ACDE2-DB87-438F-A124-4D10701D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10CE6-6F57-4B1E-88B4-400AD1C5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채널 길이 변조 </a:t>
            </a:r>
            <a:r>
              <a:rPr lang="en-US" altLang="ko-KR" dirty="0"/>
              <a:t>(Channel-length modulation)</a:t>
            </a:r>
            <a:endParaRPr lang="en-US" altLang="ko-KR" dirty="0">
              <a:solidFill>
                <a:srgbClr val="00B050"/>
              </a:solidFill>
            </a:endParaRPr>
          </a:p>
          <a:p>
            <a:pPr lvl="2"/>
            <a:r>
              <a:rPr lang="ko-KR" altLang="en-US" dirty="0"/>
              <a:t>게이트와 </a:t>
            </a:r>
            <a:r>
              <a:rPr lang="ko-KR" altLang="en-US" dirty="0" err="1"/>
              <a:t>드레인</a:t>
            </a:r>
            <a:r>
              <a:rPr lang="ko-KR" altLang="en-US" dirty="0"/>
              <a:t> 사이의 전위차가 감소함에 따라 실제 채널 길이가 점차 감소하는 현상</a:t>
            </a:r>
            <a:endParaRPr lang="en-US" altLang="ko-KR" dirty="0"/>
          </a:p>
          <a:p>
            <a:pPr lvl="2"/>
            <a:r>
              <a:rPr lang="el-GR" altLang="ko-KR" dirty="0"/>
              <a:t>Δ</a:t>
            </a:r>
            <a:r>
              <a:rPr lang="en-US" altLang="ko-KR" dirty="0"/>
              <a:t>L/L </a:t>
            </a:r>
            <a:r>
              <a:rPr lang="ko-KR" altLang="en-US" dirty="0"/>
              <a:t>과</a:t>
            </a:r>
            <a:r>
              <a:rPr lang="en-US" altLang="ko-KR" dirty="0"/>
              <a:t> 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 관계로부터</a:t>
            </a:r>
            <a:r>
              <a:rPr lang="en-US" altLang="ko-KR" dirty="0"/>
              <a:t>,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r>
              <a:rPr lang="el-GR" altLang="ko-KR" dirty="0"/>
              <a:t>λ</a:t>
            </a:r>
            <a:r>
              <a:rPr lang="en-US" altLang="ko-KR" dirty="0"/>
              <a:t>: </a:t>
            </a:r>
            <a:r>
              <a:rPr lang="ko-KR" altLang="en-US" dirty="0"/>
              <a:t>채널 길이 변조 계수</a:t>
            </a:r>
            <a:endParaRPr lang="en-US" altLang="ko-KR" dirty="0"/>
          </a:p>
          <a:p>
            <a:pPr lvl="2"/>
            <a:r>
              <a:rPr lang="en-US" altLang="ko-KR" dirty="0">
                <a:latin typeface="+mn-ea"/>
              </a:rPr>
              <a:t>I</a:t>
            </a:r>
            <a:r>
              <a:rPr lang="en-US" altLang="ko-KR" baseline="-25000" dirty="0">
                <a:latin typeface="+mn-ea"/>
              </a:rPr>
              <a:t>D</a:t>
            </a:r>
            <a:r>
              <a:rPr lang="en-US" altLang="ko-KR" dirty="0">
                <a:latin typeface="+mn-ea"/>
              </a:rPr>
              <a:t>-V</a:t>
            </a:r>
            <a:r>
              <a:rPr lang="en-US" altLang="ko-KR" baseline="-25000" dirty="0">
                <a:latin typeface="+mn-ea"/>
              </a:rPr>
              <a:t>DS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특성 곡선의 기울기가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이 아니게 되며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이에 따라 포화 영역에서 </a:t>
            </a:r>
            <a:r>
              <a:rPr lang="ko-KR" altLang="en-US" dirty="0" err="1">
                <a:latin typeface="+mn-ea"/>
              </a:rPr>
              <a:t>드레인</a:t>
            </a:r>
            <a:r>
              <a:rPr lang="en-US" altLang="ko-KR" dirty="0">
                <a:latin typeface="+mn-ea"/>
              </a:rPr>
              <a:t>(D)</a:t>
            </a:r>
            <a:r>
              <a:rPr lang="ko-KR" altLang="en-US" dirty="0">
                <a:latin typeface="+mn-ea"/>
              </a:rPr>
              <a:t>과 소스</a:t>
            </a:r>
            <a:r>
              <a:rPr lang="en-US" altLang="ko-KR" dirty="0">
                <a:latin typeface="+mn-ea"/>
              </a:rPr>
              <a:t>(S) </a:t>
            </a:r>
            <a:r>
              <a:rPr lang="ko-KR" altLang="en-US" dirty="0">
                <a:latin typeface="+mn-ea"/>
              </a:rPr>
              <a:t>사이에 </a:t>
            </a:r>
            <a:r>
              <a:rPr lang="ko-KR" altLang="en-US" dirty="0" err="1">
                <a:latin typeface="+mn-ea"/>
              </a:rPr>
              <a:t>비이상적인</a:t>
            </a:r>
            <a:r>
              <a:rPr lang="ko-KR" altLang="en-US" dirty="0">
                <a:latin typeface="+mn-ea"/>
              </a:rPr>
              <a:t> 전류가 흐르게 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478405-AB20-4E72-8BD7-E9E6D4A7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7D12BF9-13DD-48AC-96E3-7D15939E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468" y="2928646"/>
            <a:ext cx="3421063" cy="56649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3D6CDEB-2CFE-4D6A-A3B4-4AC4354B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6" y="4906169"/>
            <a:ext cx="33623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50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520832-9226-4290-88BC-56E1EF4C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10A708-08AC-4E01-A8D4-FD3461EB5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채널 길이 변조에 의한 </a:t>
            </a:r>
            <a:r>
              <a:rPr lang="en-US" altLang="ko-KR" dirty="0"/>
              <a:t>g</a:t>
            </a:r>
            <a:r>
              <a:rPr lang="en-US" altLang="ko-KR" baseline="-25000" dirty="0"/>
              <a:t>m</a:t>
            </a:r>
            <a:r>
              <a:rPr lang="ko-KR" altLang="en-US" dirty="0"/>
              <a:t>의 변화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Short-channel</a:t>
            </a:r>
            <a:r>
              <a:rPr lang="ko-KR" altLang="en-US" dirty="0"/>
              <a:t> 트랜지스터에서는 선형 근사식 </a:t>
            </a:r>
            <a:r>
              <a:rPr lang="en-US" altLang="ko-KR" dirty="0"/>
              <a:t>ΔL/L ∝ V</a:t>
            </a:r>
            <a:r>
              <a:rPr lang="en-US" altLang="ko-KR" baseline="-25000" dirty="0"/>
              <a:t>DS</a:t>
            </a:r>
            <a:r>
              <a:rPr lang="ko-KR" altLang="en-US" dirty="0"/>
              <a:t>의 정확도가 떨어지며</a:t>
            </a:r>
            <a:r>
              <a:rPr lang="en-US" altLang="ko-KR" dirty="0"/>
              <a:t>, </a:t>
            </a:r>
            <a:r>
              <a:rPr lang="ko-KR" altLang="en-US" dirty="0"/>
              <a:t>이로 인해 포화 영역의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-V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특성 곡선에서 기울기가 일정하지 않고 변하게 됨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4B40D1-3C61-4FB1-B130-88029154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6C0530B-DF5F-40C1-AA0F-650FBE1EF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956" y="1918273"/>
            <a:ext cx="3494088" cy="10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51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8AF82-8B6F-4F40-9FFA-4BD76303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9ECE8-28C5-490F-929C-D8F635EA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문턱전압 이하 전도 </a:t>
            </a:r>
            <a:r>
              <a:rPr lang="en-US" altLang="ko-KR" dirty="0"/>
              <a:t>(Subthreshold conduction)</a:t>
            </a:r>
          </a:p>
          <a:p>
            <a:pPr lvl="1"/>
            <a:r>
              <a:rPr lang="en-US" altLang="ko-KR" dirty="0"/>
              <a:t>V</a:t>
            </a:r>
            <a:r>
              <a:rPr lang="en-US" altLang="ko-KR" baseline="-25000" dirty="0"/>
              <a:t>GS</a:t>
            </a:r>
            <a:r>
              <a:rPr lang="ko-KR" altLang="en-US" dirty="0"/>
              <a:t>가 </a:t>
            </a:r>
            <a:r>
              <a:rPr lang="en-US" altLang="ko-KR" dirty="0"/>
              <a:t>V</a:t>
            </a:r>
            <a:r>
              <a:rPr lang="en-US" altLang="ko-KR" baseline="-25000" dirty="0"/>
              <a:t>TH</a:t>
            </a:r>
            <a:r>
              <a:rPr lang="en-US" altLang="ko-KR" dirty="0"/>
              <a:t> </a:t>
            </a:r>
            <a:r>
              <a:rPr lang="ko-KR" altLang="en-US" dirty="0"/>
              <a:t>아래로 떨어지면 소자가 갑자기 꺼진다고 가정</a:t>
            </a:r>
            <a:endParaRPr lang="en-US" altLang="ko-KR" baseline="-25000" dirty="0"/>
          </a:p>
          <a:p>
            <a:pPr lvl="2"/>
            <a:r>
              <a:rPr lang="ko-KR" altLang="en-US" dirty="0"/>
              <a:t>약한 반전층이 여전히 존재하며 </a:t>
            </a:r>
            <a:r>
              <a:rPr lang="en-US" altLang="ko-KR" dirty="0"/>
              <a:t>D</a:t>
            </a:r>
            <a:r>
              <a:rPr lang="ko-KR" altLang="en-US" dirty="0"/>
              <a:t>에서 </a:t>
            </a:r>
            <a:r>
              <a:rPr lang="en-US" altLang="ko-KR" dirty="0"/>
              <a:t>S</a:t>
            </a:r>
            <a:r>
              <a:rPr lang="ko-KR" altLang="en-US" dirty="0"/>
              <a:t>로 약간의 전류가 흐르게 됨</a:t>
            </a:r>
            <a:endParaRPr lang="en-US" altLang="ko-KR" dirty="0"/>
          </a:p>
          <a:p>
            <a:pPr lvl="2"/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ko-KR" altLang="en-US" dirty="0"/>
              <a:t>는 유한하며 </a:t>
            </a:r>
            <a:r>
              <a:rPr lang="en-US" altLang="ko-KR" dirty="0"/>
              <a:t>V</a:t>
            </a:r>
            <a:r>
              <a:rPr lang="en-US" altLang="ko-KR" baseline="-25000" dirty="0"/>
              <a:t>GS</a:t>
            </a:r>
            <a:r>
              <a:rPr lang="ko-KR" altLang="en-US" dirty="0"/>
              <a:t>에 대해 지수 함수적 의존성을 나타냄</a:t>
            </a:r>
            <a:endParaRPr lang="en-US" altLang="ko-KR" dirty="0"/>
          </a:p>
          <a:p>
            <a:pPr lvl="2"/>
            <a:r>
              <a:rPr lang="en-US" altLang="ko-KR" dirty="0"/>
              <a:t>V</a:t>
            </a:r>
            <a:r>
              <a:rPr lang="en-US" altLang="ko-KR" baseline="-25000" dirty="0"/>
              <a:t>DS</a:t>
            </a:r>
            <a:r>
              <a:rPr lang="ko-KR" altLang="en-US" dirty="0"/>
              <a:t>가 대략 </a:t>
            </a:r>
            <a:r>
              <a:rPr lang="en-US" altLang="ko-KR" dirty="0"/>
              <a:t>100mV</a:t>
            </a:r>
            <a:r>
              <a:rPr lang="ko-KR" altLang="en-US" dirty="0"/>
              <a:t>보다 클 때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상온에서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배 감소하려면 </a:t>
            </a:r>
            <a:r>
              <a:rPr lang="en-US" altLang="ko-KR" dirty="0"/>
              <a:t>V</a:t>
            </a:r>
            <a:r>
              <a:rPr lang="en-US" altLang="ko-KR" baseline="-25000" dirty="0"/>
              <a:t>GS</a:t>
            </a:r>
            <a:r>
              <a:rPr lang="ko-KR" altLang="en-US" dirty="0"/>
              <a:t>가 약 </a:t>
            </a:r>
            <a:r>
              <a:rPr lang="en-US" altLang="ko-KR" dirty="0"/>
              <a:t>80mV </a:t>
            </a:r>
            <a:r>
              <a:rPr lang="ko-KR" altLang="en-US" dirty="0"/>
              <a:t>감소해야 함</a:t>
            </a:r>
            <a:endParaRPr lang="en-US" altLang="ko-KR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B0139-7484-40ED-806D-2177023D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9693B-25E7-4AB5-ABF0-5E86768B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793" y="3175732"/>
            <a:ext cx="1522413" cy="602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993F9B-7349-41D2-9D7D-A3E2CDF56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06" y="4449233"/>
            <a:ext cx="37528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73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EB1EC-FCC1-49F8-8343-129F5543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D8B2F3-7235-480A-B6D2-179ACF628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전압 제한 </a:t>
            </a:r>
            <a:r>
              <a:rPr lang="en-US" altLang="ko-KR" dirty="0"/>
              <a:t>(Voltage limitations)</a:t>
            </a:r>
          </a:p>
          <a:p>
            <a:pPr lvl="1"/>
            <a:r>
              <a:rPr lang="en-US" altLang="ko-KR" dirty="0"/>
              <a:t>MOSFET</a:t>
            </a:r>
            <a:r>
              <a:rPr lang="ko-KR" altLang="en-US" dirty="0"/>
              <a:t>은 단자 전압 차이가 특정 한계를 초과할 경우</a:t>
            </a:r>
            <a:r>
              <a:rPr lang="en-US" altLang="ko-KR" dirty="0"/>
              <a:t>(</a:t>
            </a:r>
            <a:r>
              <a:rPr lang="ko-KR" altLang="en-US" dirty="0"/>
              <a:t>소자에 스트레스가 가해질 경우</a:t>
            </a:r>
            <a:r>
              <a:rPr lang="en-US" altLang="ko-KR" dirty="0"/>
              <a:t>) </a:t>
            </a:r>
            <a:r>
              <a:rPr lang="ko-KR" altLang="en-US" dirty="0"/>
              <a:t>다양한 바람직하지 않은 현상 나타냄</a:t>
            </a:r>
            <a:endParaRPr lang="en-US" altLang="ko-KR" dirty="0"/>
          </a:p>
          <a:p>
            <a:pPr lvl="2"/>
            <a:r>
              <a:rPr lang="ko-KR" altLang="en-US" dirty="0"/>
              <a:t>높은 게이트</a:t>
            </a:r>
            <a:r>
              <a:rPr lang="en-US" altLang="ko-KR" dirty="0"/>
              <a:t>-</a:t>
            </a:r>
            <a:r>
              <a:rPr lang="ko-KR" altLang="en-US" dirty="0"/>
              <a:t>소스 전압에서는 </a:t>
            </a:r>
            <a:r>
              <a:rPr lang="ko-KR" altLang="en-US" dirty="0" err="1"/>
              <a:t>비가역적인</a:t>
            </a:r>
            <a:r>
              <a:rPr lang="ko-KR" altLang="en-US" dirty="0"/>
              <a:t> 게이트 </a:t>
            </a:r>
            <a:r>
              <a:rPr lang="ko-KR" altLang="en-US" dirty="0" err="1"/>
              <a:t>산화막</a:t>
            </a:r>
            <a:r>
              <a:rPr lang="ko-KR" altLang="en-US" dirty="0"/>
              <a:t> 파괴가 발생할 수 있음</a:t>
            </a:r>
            <a:endParaRPr lang="en-US" altLang="ko-KR" dirty="0"/>
          </a:p>
          <a:p>
            <a:pPr lvl="2"/>
            <a:r>
              <a:rPr lang="ko-KR" altLang="en-US" dirty="0" err="1"/>
              <a:t>펀치스루</a:t>
            </a:r>
            <a:r>
              <a:rPr lang="en-US" altLang="ko-KR" dirty="0"/>
              <a:t>(Punch-through) : Short-channel</a:t>
            </a:r>
            <a:r>
              <a:rPr lang="ko-KR" altLang="en-US" dirty="0"/>
              <a:t> 소자에서는 큰 </a:t>
            </a:r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전압으로 인해 </a:t>
            </a:r>
            <a:r>
              <a:rPr lang="ko-KR" altLang="en-US" dirty="0" err="1"/>
              <a:t>공핍</a:t>
            </a:r>
            <a:r>
              <a:rPr lang="ko-KR" altLang="en-US" dirty="0"/>
              <a:t> 영역이 서로 닿는 </a:t>
            </a:r>
            <a:r>
              <a:rPr lang="ko-KR" altLang="en-US" dirty="0" err="1"/>
              <a:t>펀치스루</a:t>
            </a:r>
            <a:r>
              <a:rPr lang="en-US" altLang="ko-KR" dirty="0"/>
              <a:t>(Punch-through) </a:t>
            </a:r>
            <a:r>
              <a:rPr lang="ko-KR" altLang="en-US" dirty="0"/>
              <a:t>현상이 발생하여 비정상적으로 큰 </a:t>
            </a:r>
            <a:r>
              <a:rPr lang="ko-KR" altLang="en-US" dirty="0" err="1"/>
              <a:t>드레인</a:t>
            </a:r>
            <a:r>
              <a:rPr lang="ko-KR" altLang="en-US" dirty="0"/>
              <a:t> 전류가 흐를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BA474-DB7E-4277-B008-347F07FE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5122" name="Picture 2" descr="MOSFET(6) - 펀치 스루(Punch-through), HCI(Hot carrier injection effect) : 네이버  블로그">
            <a:extLst>
              <a:ext uri="{FF2B5EF4-FFF2-40B4-BE49-F238E27FC236}">
                <a16:creationId xmlns:a16="http://schemas.microsoft.com/office/drawing/2014/main" id="{F86214F5-47AD-4673-AB19-DD17E15F4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3948112"/>
            <a:ext cx="45910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2208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7C19-B7F2-4C23-9AAC-CDE39BE8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소자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3B74A9-6ED9-460F-A9FD-9954B8AD1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소자 모델 및 레이아웃</a:t>
            </a:r>
            <a:endParaRPr lang="en-US" altLang="ko-KR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MOSFET</a:t>
            </a:r>
            <a:r>
              <a:rPr lang="ko-KR" altLang="en-US" dirty="0"/>
              <a:t>의 레이아웃은 요구되는 전기적 특성 및 공정 디자인 룰에 의해 결정</a:t>
            </a:r>
            <a:endParaRPr lang="en-US" altLang="ko-KR" dirty="0"/>
          </a:p>
          <a:p>
            <a:pPr lvl="2"/>
            <a:r>
              <a:rPr lang="en-US" altLang="ko-KR" dirty="0"/>
              <a:t>W/L </a:t>
            </a:r>
            <a:r>
              <a:rPr lang="ko-KR" altLang="en-US" dirty="0"/>
              <a:t>비는 회로 설계자가 결정</a:t>
            </a:r>
            <a:endParaRPr lang="en-US" altLang="ko-KR" dirty="0"/>
          </a:p>
          <a:p>
            <a:pPr lvl="2"/>
            <a:r>
              <a:rPr lang="en-US" altLang="ko-KR" dirty="0"/>
              <a:t>L</a:t>
            </a:r>
            <a:r>
              <a:rPr lang="ko-KR" altLang="en-US" dirty="0"/>
              <a:t>은 공정에 의해 주로 좌우</a:t>
            </a:r>
            <a:endParaRPr lang="en-US" altLang="ko-KR" dirty="0"/>
          </a:p>
          <a:p>
            <a:pPr lvl="1"/>
            <a:r>
              <a:rPr lang="en-US" altLang="ko-KR" dirty="0"/>
              <a:t>Bird’s-eye view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68777-6315-4184-87E2-1E3B4887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DF22A-E17E-4A9B-8D71-5A8DB0790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45" y="3714751"/>
            <a:ext cx="6332709" cy="22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0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CCE62-5C51-4D98-92FE-C3179D9E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16D936-659E-4F84-9EEA-E9C01A0F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소자 </a:t>
            </a:r>
            <a:r>
              <a:rPr lang="ko-KR" altLang="en-US" dirty="0" err="1"/>
              <a:t>커패시턴스</a:t>
            </a:r>
            <a:endParaRPr lang="en-US" altLang="ko-KR" dirty="0"/>
          </a:p>
          <a:p>
            <a:pPr lvl="1"/>
            <a:r>
              <a:rPr lang="ko-KR" altLang="en-US" dirty="0"/>
              <a:t>고주파수 동작을 예측하기 위해서는 소자와 관련된 </a:t>
            </a:r>
            <a:r>
              <a:rPr lang="ko-KR" altLang="en-US" dirty="0" err="1"/>
              <a:t>커패시턴스를</a:t>
            </a:r>
            <a:r>
              <a:rPr lang="ko-KR" altLang="en-US" dirty="0"/>
              <a:t> 고려해야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MOS </a:t>
            </a:r>
            <a:r>
              <a:rPr lang="ko-KR" altLang="en-US" dirty="0"/>
              <a:t>정전 용량은 트랜지스터의 바이어스 조건에 따라 달라질 수 있음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F98B92-04AA-4E9B-8273-FD4E71AC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FBEA9-F97B-457A-8022-5DD2BDAB1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3519878"/>
            <a:ext cx="28384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08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364C1-B8A2-415D-8981-6F24AFB3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3C05F32-C554-4009-88E4-FA2770CDCE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MOSFET</a:t>
                </a:r>
                <a:r>
                  <a:rPr lang="ko-KR" altLang="en-US" dirty="0"/>
                  <a:t>에서의 </a:t>
                </a:r>
                <a:r>
                  <a:rPr lang="ko-KR" altLang="en-US" dirty="0" err="1"/>
                  <a:t>커패시턴스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(1) </a:t>
                </a:r>
                <a:r>
                  <a:rPr lang="ko-KR" altLang="en-US" dirty="0"/>
                  <a:t>게이트와 채널 사이의 산화물 </a:t>
                </a:r>
                <a:r>
                  <a:rPr lang="ko-KR" altLang="en-US" dirty="0" err="1"/>
                  <a:t>커패시턴스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𝑊𝐿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(2) </a:t>
                </a:r>
                <a:r>
                  <a:rPr lang="ko-KR" altLang="en-US" dirty="0"/>
                  <a:t>채널과 기판 사이의 </a:t>
                </a:r>
                <a:r>
                  <a:rPr lang="ko-KR" altLang="en-US" dirty="0" err="1"/>
                  <a:t>공핍</a:t>
                </a:r>
                <a:r>
                  <a:rPr lang="ko-KR" altLang="en-US" dirty="0"/>
                  <a:t> 용량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𝑊𝐿</m:t>
                    </m:r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𝑠𝑢𝑏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/(4</m:t>
                            </m:r>
                            <m:sSub>
                              <m:sSubPr>
                                <m:ctrl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rad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(3) </a:t>
                </a:r>
                <a:r>
                  <a:rPr lang="ko-KR" altLang="en-US" dirty="0"/>
                  <a:t>게이트 폴리가 소스 및 </a:t>
                </a:r>
                <a:r>
                  <a:rPr lang="ko-KR" altLang="en-US" dirty="0" err="1"/>
                  <a:t>드레인</a:t>
                </a:r>
                <a:r>
                  <a:rPr lang="ko-KR" altLang="en-US" dirty="0"/>
                  <a:t> 영역과 겹치는 부분으로 인한 정전 용량</a:t>
                </a:r>
                <a:r>
                  <a:rPr lang="en-US" altLang="ko-KR" dirty="0"/>
                  <a:t>, C</a:t>
                </a:r>
                <a:r>
                  <a:rPr lang="en-US" altLang="ko-KR" baseline="-25000" dirty="0"/>
                  <a:t>3</a:t>
                </a:r>
                <a:r>
                  <a:rPr lang="ko-KR" altLang="en-US" dirty="0"/>
                  <a:t>와</a:t>
                </a:r>
                <a:r>
                  <a:rPr lang="en-US" altLang="ko-KR" dirty="0"/>
                  <a:t> C</a:t>
                </a:r>
                <a:r>
                  <a:rPr lang="en-US" altLang="ko-KR" baseline="-25000" dirty="0"/>
                  <a:t>4</a:t>
                </a:r>
              </a:p>
              <a:p>
                <a:pPr lvl="1"/>
                <a:r>
                  <a:rPr lang="en-US" altLang="ko-KR" dirty="0"/>
                  <a:t>(4) </a:t>
                </a:r>
                <a:r>
                  <a:rPr lang="ko-KR" altLang="en-US" dirty="0"/>
                  <a:t>소스</a:t>
                </a:r>
                <a:r>
                  <a:rPr lang="en-US" altLang="ko-KR" dirty="0"/>
                  <a:t>/</a:t>
                </a:r>
                <a:r>
                  <a:rPr lang="ko-KR" altLang="en-US" dirty="0" err="1"/>
                  <a:t>드레인</a:t>
                </a:r>
                <a:r>
                  <a:rPr lang="ko-KR" altLang="en-US" dirty="0"/>
                  <a:t> 영역과 기판 사이의 접합 </a:t>
                </a:r>
                <a:r>
                  <a:rPr lang="ko-KR" altLang="en-US" dirty="0" err="1"/>
                  <a:t>커패시턴스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접합부 정전 용량은 하부 플레이트 정전 용량 </a:t>
                </a:r>
                <a:r>
                  <a:rPr lang="en-US" altLang="ko-KR" dirty="0" err="1"/>
                  <a:t>C</a:t>
                </a:r>
                <a:r>
                  <a:rPr lang="en-US" altLang="ko-KR" baseline="-25000" dirty="0" err="1"/>
                  <a:t>j</a:t>
                </a:r>
                <a:r>
                  <a:rPr lang="ko-KR" altLang="en-US" dirty="0"/>
                  <a:t>와 접합부 둘레로 인한 측벽 정전 용량 </a:t>
                </a:r>
                <a:r>
                  <a:rPr lang="en-US" altLang="ko-KR" dirty="0" err="1"/>
                  <a:t>C</a:t>
                </a:r>
                <a:r>
                  <a:rPr lang="en-US" altLang="ko-KR" baseline="-25000" dirty="0" err="1"/>
                  <a:t>jsw</a:t>
                </a:r>
                <a:r>
                  <a:rPr lang="ko-KR" altLang="en-US" dirty="0"/>
                  <a:t>의 두 가지 구성 요소로 구성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3C05F32-C554-4009-88E4-FA2770CDC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414" r="-20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14BAC9-739B-4019-94A0-DB7F12EA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5B863-AABD-4F8F-BA37-CACAACCC3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070" y="5083612"/>
            <a:ext cx="5417859" cy="174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63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70CC6-3D30-4CE8-9BDE-D783582E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BCAC1-9DD6-4656-AC8E-65A707334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 err="1"/>
              <a:t>소신호</a:t>
            </a:r>
            <a:r>
              <a:rPr lang="ko-KR" altLang="en-US" dirty="0"/>
              <a:t> </a:t>
            </a:r>
            <a:r>
              <a:rPr lang="en-US" altLang="ko-KR" dirty="0"/>
              <a:t>(small-signal) </a:t>
            </a:r>
            <a:r>
              <a:rPr lang="ko-KR" altLang="en-US" dirty="0"/>
              <a:t>모델 </a:t>
            </a:r>
            <a:endParaRPr lang="en-US" altLang="ko-KR" dirty="0"/>
          </a:p>
          <a:p>
            <a:pPr lvl="1"/>
            <a:r>
              <a:rPr lang="ko-KR" altLang="en-US" dirty="0" err="1"/>
              <a:t>대신호</a:t>
            </a:r>
            <a:r>
              <a:rPr lang="ko-KR" altLang="en-US" dirty="0"/>
              <a:t> 모델 </a:t>
            </a:r>
            <a:r>
              <a:rPr lang="en-US" altLang="ko-KR" dirty="0"/>
              <a:t>vs. </a:t>
            </a:r>
            <a:r>
              <a:rPr lang="ko-KR" altLang="en-US" dirty="0" err="1"/>
              <a:t>소신호</a:t>
            </a:r>
            <a:r>
              <a:rPr lang="ko-KR" altLang="en-US" dirty="0"/>
              <a:t> 모델</a:t>
            </a:r>
          </a:p>
          <a:p>
            <a:pPr lvl="2"/>
            <a:r>
              <a:rPr lang="ko-KR" altLang="en-US" dirty="0" err="1"/>
              <a:t>대신호</a:t>
            </a:r>
            <a:r>
              <a:rPr lang="ko-KR" altLang="en-US" dirty="0"/>
              <a:t> 모델</a:t>
            </a:r>
            <a:r>
              <a:rPr lang="en-US" altLang="ko-KR" dirty="0"/>
              <a:t>: </a:t>
            </a:r>
            <a:r>
              <a:rPr lang="ko-KR" altLang="en-US" dirty="0"/>
              <a:t>신호가 바이어스 지점을 크게 교란하는 회로</a:t>
            </a:r>
            <a:r>
              <a:rPr lang="en-US" altLang="ko-KR" dirty="0"/>
              <a:t>, </a:t>
            </a:r>
            <a:r>
              <a:rPr lang="ko-KR" altLang="en-US" dirty="0"/>
              <a:t>특히 비선형 효과가 중요한 경우 분석에 필수적</a:t>
            </a:r>
            <a:endParaRPr lang="en-US" altLang="ko-KR" dirty="0"/>
          </a:p>
          <a:p>
            <a:pPr lvl="2"/>
            <a:r>
              <a:rPr lang="ko-KR" altLang="en-US" dirty="0" err="1"/>
              <a:t>소신호</a:t>
            </a:r>
            <a:r>
              <a:rPr lang="ko-KR" altLang="en-US" dirty="0"/>
              <a:t> 모델</a:t>
            </a:r>
            <a:r>
              <a:rPr lang="en-US" altLang="ko-KR" dirty="0"/>
              <a:t>: </a:t>
            </a:r>
            <a:r>
              <a:rPr lang="ko-KR" altLang="en-US" dirty="0"/>
              <a:t>바이어스 조건의 교란이 작은 경우</a:t>
            </a:r>
            <a:r>
              <a:rPr lang="en-US" altLang="ko-KR" dirty="0"/>
              <a:t>, </a:t>
            </a:r>
            <a:r>
              <a:rPr lang="ko-KR" altLang="en-US" dirty="0" err="1"/>
              <a:t>소신호</a:t>
            </a:r>
            <a:r>
              <a:rPr lang="ko-KR" altLang="en-US" dirty="0"/>
              <a:t> 모델을 사용하여 계산을 단순화할 수 있음</a:t>
            </a:r>
            <a:endParaRPr lang="en-US" altLang="ko-KR" dirty="0"/>
          </a:p>
          <a:p>
            <a:pPr lvl="3"/>
            <a:r>
              <a:rPr lang="ko-KR" altLang="en-US" dirty="0"/>
              <a:t>특히 </a:t>
            </a:r>
            <a:r>
              <a:rPr lang="en-US" altLang="ko-KR" dirty="0"/>
              <a:t>MOSFET</a:t>
            </a:r>
            <a:r>
              <a:rPr lang="ko-KR" altLang="en-US" dirty="0"/>
              <a:t>이 포화 영역에서 </a:t>
            </a:r>
            <a:r>
              <a:rPr lang="ko-KR" altLang="en-US" dirty="0" err="1"/>
              <a:t>바이어스될</a:t>
            </a:r>
            <a:r>
              <a:rPr lang="ko-KR" altLang="en-US" dirty="0"/>
              <a:t> 때 유용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07DED-88C4-4CD0-8871-B85736F3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448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93967-8277-4158-9497-AEE5D07E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9CCB3-A712-418A-BFC0-01AFAA707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소신호</a:t>
            </a:r>
            <a:r>
              <a:rPr lang="ko-KR" altLang="en-US" dirty="0"/>
              <a:t> 모델</a:t>
            </a:r>
            <a:endParaRPr lang="en-US" altLang="ko-KR" dirty="0"/>
          </a:p>
          <a:p>
            <a:pPr lvl="1"/>
            <a:r>
              <a:rPr lang="en-US" altLang="ko-KR" dirty="0"/>
              <a:t>(a) </a:t>
            </a:r>
            <a:r>
              <a:rPr lang="ko-KR" altLang="en-US" dirty="0"/>
              <a:t>기본 </a:t>
            </a:r>
            <a:r>
              <a:rPr lang="en-US" altLang="ko-KR" dirty="0"/>
              <a:t>MOS </a:t>
            </a:r>
            <a:r>
              <a:rPr lang="ko-KR" altLang="en-US" dirty="0" err="1"/>
              <a:t>소신호</a:t>
            </a:r>
            <a:r>
              <a:rPr lang="ko-KR" altLang="en-US" dirty="0"/>
              <a:t> 모델</a:t>
            </a:r>
          </a:p>
          <a:p>
            <a:pPr lvl="1"/>
            <a:r>
              <a:rPr lang="en-US" altLang="ko-KR" dirty="0"/>
              <a:t>(b) </a:t>
            </a:r>
            <a:r>
              <a:rPr lang="ko-KR" altLang="en-US" dirty="0"/>
              <a:t>종속 ​​전류원으로 표현되는 채널 길이 변조</a:t>
            </a:r>
          </a:p>
          <a:p>
            <a:pPr lvl="1"/>
            <a:r>
              <a:rPr lang="en-US" altLang="ko-KR" dirty="0"/>
              <a:t>(c) </a:t>
            </a:r>
            <a:r>
              <a:rPr lang="ko-KR" altLang="en-US" dirty="0"/>
              <a:t>저항으로 표현되는 채널 길이 변조</a:t>
            </a:r>
          </a:p>
          <a:p>
            <a:pPr lvl="1"/>
            <a:r>
              <a:rPr lang="en-US" altLang="ko-KR" dirty="0"/>
              <a:t>(d) </a:t>
            </a:r>
            <a:r>
              <a:rPr lang="ko-KR" altLang="en-US" dirty="0"/>
              <a:t>종속 전류원으로 표현되는 바디 효과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7EE037-4128-470D-B23A-8B8F4D7D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DD3A7-4225-4861-9A3C-083AB147A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99" y="3429000"/>
            <a:ext cx="6162602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98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4ED7A-9C4A-4ADC-B617-9EF452612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F3B72F-54D7-4D0A-B7AA-5CE3B8710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채널 길이 변조</a:t>
            </a:r>
          </a:p>
          <a:p>
            <a:pPr lvl="1"/>
            <a:r>
              <a:rPr lang="ko-KR" altLang="en-US" dirty="0"/>
              <a:t>채널 길이 변조 효과로 인해 </a:t>
            </a:r>
            <a:r>
              <a:rPr lang="ko-KR" altLang="en-US" dirty="0" err="1"/>
              <a:t>드레인</a:t>
            </a:r>
            <a:r>
              <a:rPr lang="ko-KR" altLang="en-US" dirty="0"/>
              <a:t> 전류는 </a:t>
            </a:r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전압에 따라 변하게 됨</a:t>
            </a:r>
            <a:endParaRPr lang="en-US" altLang="ko-KR" dirty="0"/>
          </a:p>
          <a:p>
            <a:pPr lvl="2"/>
            <a:r>
              <a:rPr lang="ko-KR" altLang="en-US" dirty="0"/>
              <a:t>전압 의존 전류원으로 모델링할 수 있음</a:t>
            </a:r>
            <a:endParaRPr lang="en-US" altLang="ko-KR" dirty="0"/>
          </a:p>
          <a:p>
            <a:pPr lvl="2"/>
            <a:r>
              <a:rPr lang="ko-KR" altLang="en-US" dirty="0"/>
              <a:t>전류원이 전압에 선형적으로 의존하는 경우</a:t>
            </a:r>
            <a:r>
              <a:rPr lang="en-US" altLang="ko-KR" dirty="0"/>
              <a:t>, </a:t>
            </a:r>
            <a:r>
              <a:rPr lang="ko-KR" altLang="en-US" dirty="0"/>
              <a:t>이는 선형 저항과 같으므로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O</a:t>
            </a:r>
            <a:r>
              <a:rPr lang="ko-KR" altLang="en-US" dirty="0"/>
              <a:t>로 표현할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9F5B9-FEA4-4FFB-92D9-8693DF76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62E0F-3890-4F34-8E3B-E6E3C370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7" y="3642575"/>
            <a:ext cx="2752725" cy="1943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82CE42-4464-4A2F-845F-2F7CD2E1A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4" y="5559425"/>
            <a:ext cx="12477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50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96ABC-F646-4241-BF90-D859C970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20EFD-7665-41B7-82DD-F37BBC90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바디 효과</a:t>
            </a:r>
          </a:p>
          <a:p>
            <a:pPr lvl="1"/>
            <a:r>
              <a:rPr lang="ko-KR" altLang="en-US" dirty="0" err="1"/>
              <a:t>드레인</a:t>
            </a:r>
            <a:r>
              <a:rPr lang="ko-KR" altLang="en-US" dirty="0"/>
              <a:t> 전류는 </a:t>
            </a:r>
            <a:r>
              <a:rPr lang="ko-KR" altLang="en-US" dirty="0" err="1"/>
              <a:t>벌크</a:t>
            </a:r>
            <a:r>
              <a:rPr lang="ko-KR" altLang="en-US" dirty="0"/>
              <a:t> 전압의 함수가 됨</a:t>
            </a:r>
            <a:endParaRPr lang="en-US" altLang="ko-KR" dirty="0"/>
          </a:p>
          <a:p>
            <a:pPr lvl="2"/>
            <a:r>
              <a:rPr lang="ko-KR" altLang="en-US" dirty="0" err="1"/>
              <a:t>벌크는</a:t>
            </a:r>
            <a:r>
              <a:rPr lang="ko-KR" altLang="en-US" dirty="0"/>
              <a:t> 제</a:t>
            </a:r>
            <a:r>
              <a:rPr lang="en-US" altLang="ko-KR" dirty="0"/>
              <a:t>2</a:t>
            </a:r>
            <a:r>
              <a:rPr lang="ko-KR" altLang="en-US" dirty="0"/>
              <a:t>의 게이트처럼 작동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29AA34-B2EC-44C0-8136-7AE4E7B3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5A212-D1DF-41EE-9FB4-6A7408EC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917" y="3248597"/>
            <a:ext cx="3276600" cy="110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0E18F-2710-4B66-8A7D-524D2182A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052" y="4400984"/>
            <a:ext cx="2734265" cy="1147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38830-91F1-431F-A883-97525EB3A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867" y="3433233"/>
            <a:ext cx="2149194" cy="947599"/>
          </a:xfrm>
          <a:prstGeom prst="rect">
            <a:avLst/>
          </a:prstGeom>
        </p:spPr>
      </p:pic>
      <p:cxnSp>
        <p:nvCxnSpPr>
          <p:cNvPr id="8" name="Straight Arrow Connector 10">
            <a:extLst>
              <a:ext uri="{FF2B5EF4-FFF2-40B4-BE49-F238E27FC236}">
                <a16:creationId xmlns:a16="http://schemas.microsoft.com/office/drawing/2014/main" id="{B562CDEC-CDFF-4E95-9014-CC0D1F8F90BA}"/>
              </a:ext>
            </a:extLst>
          </p:cNvPr>
          <p:cNvCxnSpPr/>
          <p:nvPr/>
        </p:nvCxnSpPr>
        <p:spPr>
          <a:xfrm>
            <a:off x="5355167" y="4017433"/>
            <a:ext cx="167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9546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37935-B5F4-415E-BACC-861DEFDD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0B6AE-BB8F-486A-B21C-F56EE5534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MOSFET</a:t>
            </a:r>
            <a:r>
              <a:rPr lang="ko-KR" altLang="en-US" dirty="0"/>
              <a:t>의 각 단자는 재료</a:t>
            </a:r>
            <a:r>
              <a:rPr lang="en-US" altLang="ko-KR" dirty="0"/>
              <a:t>(</a:t>
            </a:r>
            <a:r>
              <a:rPr lang="ko-KR" altLang="en-US" dirty="0"/>
              <a:t>및 접점</a:t>
            </a:r>
            <a:r>
              <a:rPr lang="en-US" altLang="ko-KR" dirty="0"/>
              <a:t>)</a:t>
            </a:r>
            <a:r>
              <a:rPr lang="ko-KR" altLang="en-US" dirty="0"/>
              <a:t>의 저항률로 인해 유한한 옴 저항을 나타냄</a:t>
            </a:r>
            <a:endParaRPr lang="en-US" altLang="ko-KR" dirty="0"/>
          </a:p>
          <a:p>
            <a:pPr lvl="1"/>
            <a:r>
              <a:rPr lang="ko-KR" altLang="en-US" dirty="0"/>
              <a:t>적절한 레이아웃을 통해 이러한 저항을 최소화할 수 있음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게이트 저항이 </a:t>
            </a:r>
            <a:r>
              <a:rPr lang="en-US" altLang="ko-KR" dirty="0"/>
              <a:t>4</a:t>
            </a:r>
            <a:r>
              <a:rPr lang="ko-KR" altLang="en-US" dirty="0"/>
              <a:t>분의 </a:t>
            </a:r>
            <a:r>
              <a:rPr lang="en-US" altLang="ko-KR" dirty="0"/>
              <a:t>1</a:t>
            </a:r>
            <a:r>
              <a:rPr lang="ko-KR" altLang="en-US" dirty="0"/>
              <a:t>로 감소함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F1D86-BC25-43A2-9713-8582C250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02CD0-E486-479A-8DF6-5E1F89787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87" y="3146425"/>
            <a:ext cx="39338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23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F0365-6A7A-47A9-8CDD-DA7A8334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C9733-B4B2-49DD-A5D3-4187BDD3A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소자 정전 용량을 포함한 완전한 </a:t>
            </a:r>
            <a:r>
              <a:rPr lang="ko-KR" altLang="en-US" dirty="0" err="1"/>
              <a:t>소신호</a:t>
            </a:r>
            <a:r>
              <a:rPr lang="ko-KR" altLang="en-US" dirty="0"/>
              <a:t> 모델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DCD20C-C502-4AE0-A804-ACC96EA3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99A91-6652-414A-953F-F96279F0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641" y="2404533"/>
            <a:ext cx="5828717" cy="25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07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AE3EA-16F0-4D31-B9A0-517937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725AA-A224-4901-8AE0-21D6AECA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PMOS </a:t>
            </a:r>
            <a:r>
              <a:rPr lang="ko-KR" altLang="en-US" dirty="0" err="1"/>
              <a:t>소신호</a:t>
            </a:r>
            <a:r>
              <a:rPr lang="ko-KR" altLang="en-US" dirty="0"/>
              <a:t> 모델</a:t>
            </a:r>
          </a:p>
          <a:p>
            <a:pPr lvl="1"/>
            <a:r>
              <a:rPr lang="ko-KR" altLang="en-US" dirty="0" err="1"/>
              <a:t>소신호</a:t>
            </a:r>
            <a:r>
              <a:rPr lang="ko-KR" altLang="en-US" dirty="0"/>
              <a:t> 모델은 단자 전압 차이 변화에 따른 단자 전류 변화를 찾는 방식으로 유도</a:t>
            </a:r>
            <a:endParaRPr lang="en-US" altLang="ko-KR" dirty="0"/>
          </a:p>
          <a:p>
            <a:pPr lvl="2"/>
            <a:r>
              <a:rPr lang="en-US" altLang="ko-KR" dirty="0"/>
              <a:t>PMOS </a:t>
            </a:r>
            <a:r>
              <a:rPr lang="ko-KR" altLang="en-US" dirty="0"/>
              <a:t>소자의 </a:t>
            </a:r>
            <a:r>
              <a:rPr lang="ko-KR" altLang="en-US" dirty="0" err="1"/>
              <a:t>소신호</a:t>
            </a:r>
            <a:r>
              <a:rPr lang="ko-KR" altLang="en-US" dirty="0"/>
              <a:t> 모델은 </a:t>
            </a:r>
            <a:r>
              <a:rPr lang="en-US" altLang="ko-KR" dirty="0"/>
              <a:t>NMOS </a:t>
            </a:r>
            <a:r>
              <a:rPr lang="ko-KR" altLang="en-US" dirty="0"/>
              <a:t>소자의 </a:t>
            </a:r>
            <a:r>
              <a:rPr lang="ko-KR" altLang="en-US" dirty="0" err="1"/>
              <a:t>소신호</a:t>
            </a:r>
            <a:r>
              <a:rPr lang="ko-KR" altLang="en-US" dirty="0"/>
              <a:t> 모델과 완전히 동일</a:t>
            </a:r>
            <a:endParaRPr lang="en-US" altLang="ko-KR" dirty="0"/>
          </a:p>
          <a:p>
            <a:pPr lvl="1"/>
            <a:r>
              <a:rPr lang="ko-KR" altLang="en-US" dirty="0"/>
              <a:t>일반적으로 </a:t>
            </a:r>
            <a:r>
              <a:rPr lang="en-US" altLang="ko-KR" dirty="0"/>
              <a:t>PMOS </a:t>
            </a:r>
            <a:r>
              <a:rPr lang="ko-KR" altLang="en-US" dirty="0"/>
              <a:t>소자는 소스 단자가 위쪽</a:t>
            </a:r>
            <a:r>
              <a:rPr lang="en-US" altLang="ko-KR" dirty="0"/>
              <a:t>, </a:t>
            </a:r>
            <a:r>
              <a:rPr lang="ko-KR" altLang="en-US" dirty="0" err="1"/>
              <a:t>드레인</a:t>
            </a:r>
            <a:r>
              <a:rPr lang="ko-KR" altLang="en-US" dirty="0"/>
              <a:t> 단자가 아래쪽에 위치하도록 </a:t>
            </a:r>
            <a:r>
              <a:rPr lang="ko-KR" altLang="en-US" dirty="0" err="1"/>
              <a:t>그려짐</a:t>
            </a:r>
            <a:endParaRPr lang="en-US" altLang="ko-KR" dirty="0"/>
          </a:p>
          <a:p>
            <a:pPr lvl="2"/>
            <a:r>
              <a:rPr lang="ko-KR" altLang="en-US" dirty="0"/>
              <a:t>소스 단자가 더 양의 전압을 가지므로 위쪽에 위치함</a:t>
            </a:r>
            <a:endParaRPr lang="en-US" altLang="ko-KR" dirty="0"/>
          </a:p>
          <a:p>
            <a:pPr lvl="2"/>
            <a:r>
              <a:rPr lang="ko-KR" altLang="en-US" dirty="0"/>
              <a:t>하지만 </a:t>
            </a:r>
            <a:r>
              <a:rPr lang="en-US" altLang="ko-KR" dirty="0"/>
              <a:t>NMOS </a:t>
            </a:r>
            <a:r>
              <a:rPr lang="ko-KR" altLang="en-US" dirty="0"/>
              <a:t>및 </a:t>
            </a:r>
            <a:r>
              <a:rPr lang="en-US" altLang="ko-KR" dirty="0"/>
              <a:t>PMOS </a:t>
            </a:r>
            <a:r>
              <a:rPr lang="ko-KR" altLang="en-US" dirty="0"/>
              <a:t>트랜지스터의 </a:t>
            </a:r>
            <a:r>
              <a:rPr lang="ko-KR" altLang="en-US" dirty="0" err="1"/>
              <a:t>소신호</a:t>
            </a:r>
            <a:r>
              <a:rPr lang="ko-KR" altLang="en-US" dirty="0"/>
              <a:t> 모델은 동일함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E9853D-CB39-492E-9166-84B6A9E2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74493-BF6D-414C-B0AA-33F26A9EB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612" y="4471987"/>
            <a:ext cx="39147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9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FDE62-6A42-4A18-A7F7-0F15F3A3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37AD72-0E4D-4811-8264-31CB17B74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 SPICE </a:t>
            </a:r>
            <a:r>
              <a:rPr lang="ko-KR" altLang="en-US" dirty="0"/>
              <a:t>모델</a:t>
            </a:r>
          </a:p>
          <a:p>
            <a:pPr lvl="1"/>
            <a:r>
              <a:rPr lang="ko-KR" altLang="en-US" dirty="0"/>
              <a:t>가장 간단한 </a:t>
            </a:r>
            <a:r>
              <a:rPr lang="en-US" altLang="ko-KR" dirty="0"/>
              <a:t>MOS SPICE </a:t>
            </a:r>
            <a:r>
              <a:rPr lang="ko-KR" altLang="en-US" dirty="0"/>
              <a:t>모델인 </a:t>
            </a:r>
            <a:r>
              <a:rPr lang="en-US" altLang="ko-KR" dirty="0"/>
              <a:t>"</a:t>
            </a:r>
            <a:r>
              <a:rPr lang="ko-KR" altLang="en-US" dirty="0"/>
              <a:t>레벨 </a:t>
            </a:r>
            <a:r>
              <a:rPr lang="en-US" altLang="ko-KR" dirty="0"/>
              <a:t>1" </a:t>
            </a:r>
            <a:r>
              <a:rPr lang="ko-KR" altLang="en-US" dirty="0"/>
              <a:t>모델</a:t>
            </a:r>
          </a:p>
          <a:p>
            <a:pPr lvl="1"/>
            <a:r>
              <a:rPr lang="en-US" altLang="ko-KR" dirty="0"/>
              <a:t>0.5μm </a:t>
            </a:r>
            <a:r>
              <a:rPr lang="ko-KR" altLang="en-US" dirty="0"/>
              <a:t>기술에 해당하는 모델의 각 매개변수에 대한 일반적인 값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6A5A08-0426-4110-A413-700F30C3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F2482-A905-4F2A-8462-82361CEB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497" y="3520938"/>
            <a:ext cx="4155603" cy="209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C6CD90-87B9-42FA-A3A8-DB893C69E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211" y="3429000"/>
            <a:ext cx="3697677" cy="22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68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48491-44E7-46EA-B05A-B88171F7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467BE-677B-491C-8815-571F745D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NMOS </a:t>
            </a:r>
            <a:r>
              <a:rPr lang="ko-KR" altLang="en-US" dirty="0"/>
              <a:t>트랜지스터와 </a:t>
            </a:r>
            <a:r>
              <a:rPr lang="en-US" altLang="ko-KR" dirty="0"/>
              <a:t>PMOS </a:t>
            </a:r>
            <a:r>
              <a:rPr lang="ko-KR" altLang="en-US" dirty="0"/>
              <a:t>트랜지스터 비교</a:t>
            </a:r>
          </a:p>
          <a:p>
            <a:pPr lvl="1"/>
            <a:r>
              <a:rPr lang="en-US" altLang="ko-KR" dirty="0"/>
              <a:t>PMOS </a:t>
            </a:r>
            <a:r>
              <a:rPr lang="ko-KR" altLang="en-US" dirty="0"/>
              <a:t>트랜지스터는 </a:t>
            </a:r>
            <a:r>
              <a:rPr lang="en-US" altLang="ko-KR" dirty="0"/>
              <a:t>NMOS </a:t>
            </a:r>
            <a:r>
              <a:rPr lang="ko-KR" altLang="en-US" dirty="0"/>
              <a:t>트랜지스터에 비해 성능이 상당히 떨어짐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동일한 크기와 바이어스 전류 조건에서 </a:t>
            </a:r>
            <a:r>
              <a:rPr lang="en-US" altLang="ko-KR" dirty="0"/>
              <a:t>NMOS </a:t>
            </a:r>
            <a:r>
              <a:rPr lang="ko-KR" altLang="en-US" dirty="0"/>
              <a:t>트랜지스터는 더 높은 출력 저항을 나타내어 보다 이상적인 전류원을 제공하고 증폭기에서 더 높은 이득을 얻을 수 있음</a:t>
            </a:r>
            <a:endParaRPr lang="en-US" altLang="ko-KR" dirty="0"/>
          </a:p>
          <a:p>
            <a:pPr lvl="2"/>
            <a:r>
              <a:rPr lang="ko-KR" altLang="en-US" dirty="0"/>
              <a:t>따라서 가능한 한 </a:t>
            </a:r>
            <a:r>
              <a:rPr lang="en-US" altLang="ko-KR" dirty="0"/>
              <a:t>PFET </a:t>
            </a:r>
            <a:r>
              <a:rPr lang="ko-KR" altLang="en-US" dirty="0"/>
              <a:t>대신 </a:t>
            </a:r>
            <a:r>
              <a:rPr lang="en-US" altLang="ko-KR" dirty="0"/>
              <a:t>NFET</a:t>
            </a:r>
            <a:r>
              <a:rPr lang="ko-KR" altLang="en-US" dirty="0"/>
              <a:t>를 사용하는 것이 바람직함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B90860-6C41-4589-9F41-81080407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7CA8E-D8D0-4CE0-9094-5C7DA5666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449" y="2359412"/>
            <a:ext cx="2451101" cy="35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87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9A7DA-E661-48B2-A52B-E8E5E91F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FinFET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D128E6-0119-49E7-8FB6-7C0A91BA6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트랜지스터 구조를 </a:t>
            </a:r>
            <a:r>
              <a:rPr lang="en-US" altLang="ko-KR" dirty="0"/>
              <a:t>3</a:t>
            </a:r>
            <a:r>
              <a:rPr lang="ko-KR" altLang="en-US" dirty="0"/>
              <a:t>차원 구조인 </a:t>
            </a:r>
            <a:r>
              <a:rPr lang="en-US" altLang="ko-KR" dirty="0"/>
              <a:t>"</a:t>
            </a:r>
            <a:r>
              <a:rPr lang="en-US" altLang="ko-KR" dirty="0" err="1"/>
              <a:t>FinFET</a:t>
            </a:r>
            <a:r>
              <a:rPr lang="en-US" altLang="ko-KR" dirty="0"/>
              <a:t>"</a:t>
            </a:r>
            <a:r>
              <a:rPr lang="ko-KR" altLang="en-US" dirty="0"/>
              <a:t>으로 변환</a:t>
            </a:r>
          </a:p>
          <a:p>
            <a:pPr lvl="1"/>
            <a:r>
              <a:rPr lang="ko-KR" altLang="en-US" dirty="0"/>
              <a:t>길이</a:t>
            </a:r>
          </a:p>
          <a:p>
            <a:pPr lvl="1"/>
            <a:r>
              <a:rPr lang="ko-KR" altLang="en-US" dirty="0"/>
              <a:t>폭</a:t>
            </a:r>
            <a:r>
              <a:rPr lang="en-US" altLang="ko-KR" dirty="0"/>
              <a:t>: </a:t>
            </a:r>
            <a:r>
              <a:rPr lang="ko-KR" altLang="en-US" dirty="0"/>
              <a:t>전류는 핀의 세 면을 따라 흐름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두 가지 파라미터</a:t>
            </a:r>
            <a:r>
              <a:rPr lang="en-US" altLang="ko-KR" dirty="0"/>
              <a:t>: W</a:t>
            </a:r>
            <a:r>
              <a:rPr lang="en-US" altLang="ko-KR" baseline="-25000" dirty="0"/>
              <a:t>F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H</a:t>
            </a:r>
            <a:r>
              <a:rPr lang="en-US" altLang="ko-KR" baseline="-25000" dirty="0"/>
              <a:t>F</a:t>
            </a:r>
            <a:endParaRPr lang="en-US" altLang="ko-KR" dirty="0"/>
          </a:p>
          <a:p>
            <a:pPr lvl="3"/>
            <a:r>
              <a:rPr lang="en-US" altLang="ko-KR" dirty="0"/>
              <a:t>H</a:t>
            </a:r>
            <a:r>
              <a:rPr lang="en-US" altLang="ko-KR" baseline="-25000" dirty="0"/>
              <a:t>F</a:t>
            </a:r>
            <a:r>
              <a:rPr lang="en-US" altLang="ko-KR" dirty="0"/>
              <a:t>: </a:t>
            </a:r>
            <a:r>
              <a:rPr lang="ko-KR" altLang="en-US" dirty="0"/>
              <a:t>제어 불가</a:t>
            </a:r>
          </a:p>
          <a:p>
            <a:pPr lvl="3"/>
            <a:r>
              <a:rPr lang="en-US" altLang="ko-KR" dirty="0"/>
              <a:t>W</a:t>
            </a:r>
            <a:r>
              <a:rPr lang="en-US" altLang="ko-KR" baseline="-25000" dirty="0"/>
              <a:t>F</a:t>
            </a:r>
            <a:r>
              <a:rPr lang="en-US" altLang="ko-KR" dirty="0"/>
              <a:t>: </a:t>
            </a:r>
            <a:r>
              <a:rPr lang="ko-KR" altLang="en-US" dirty="0"/>
              <a:t>변경 가능하지만 소스 및 </a:t>
            </a:r>
            <a:r>
              <a:rPr lang="ko-KR" altLang="en-US" dirty="0" err="1"/>
              <a:t>드레인</a:t>
            </a:r>
            <a:r>
              <a:rPr lang="ko-KR" altLang="en-US" dirty="0"/>
              <a:t> 직렬 저항</a:t>
            </a:r>
            <a:r>
              <a:rPr lang="en-US" altLang="ko-KR" dirty="0"/>
              <a:t>, </a:t>
            </a:r>
            <a:r>
              <a:rPr lang="ko-KR" altLang="en-US" dirty="0"/>
              <a:t>채널 길이 변조</a:t>
            </a:r>
            <a:r>
              <a:rPr lang="en-US" altLang="ko-KR" dirty="0"/>
              <a:t>, </a:t>
            </a:r>
            <a:r>
              <a:rPr lang="ko-KR" altLang="en-US" dirty="0"/>
              <a:t>문턱 이하 전도 등과 같은 소자 결함에 영향을 미침</a:t>
            </a:r>
            <a:endParaRPr lang="en-US" altLang="ko-KR" dirty="0"/>
          </a:p>
          <a:p>
            <a:pPr lvl="3"/>
            <a:r>
              <a:rPr lang="ko-KR" altLang="en-US" dirty="0"/>
              <a:t>핀의 개수를 늘려야만 더 넓은 트랜지스터를 얻을 수 있음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E5320-7AB7-46B9-BBAA-9F9BCCD4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4C0EA00-35CF-411D-B372-8743E62FD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010" y="2717638"/>
            <a:ext cx="2087316" cy="298188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3F38C74-4D64-4CA9-B4FE-9D13D153A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635" y="4949773"/>
            <a:ext cx="3326730" cy="18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33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693B2-0B6F-456B-AF9D-1C3A1CF3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4EEEBD-370B-4249-B349-4B09497D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단일 핀 구조와 이중 핀 구조에 대한 세부 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0EC69D-F230-478A-BE7E-5A4ADCB0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1B8B1-E14F-450C-8E03-D26D0FA77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745" y="1999880"/>
            <a:ext cx="2695575" cy="179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7F8AF4-5D1C-4E0F-B98A-6D872D4D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045" y="4484361"/>
            <a:ext cx="3228976" cy="18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52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65BAC-4E4D-4D8D-BBED-461D637D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MOS </a:t>
            </a:r>
            <a:r>
              <a:rPr lang="ko-KR" altLang="en-US" dirty="0"/>
              <a:t>소자의 </a:t>
            </a:r>
            <a:r>
              <a:rPr lang="ko-KR" altLang="en-US" dirty="0" err="1"/>
              <a:t>커패시터로서의</a:t>
            </a:r>
            <a:r>
              <a:rPr lang="ko-KR" altLang="en-US" dirty="0"/>
              <a:t>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E6B877-33AF-4995-AE4B-13C700E3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dirty="0"/>
              <a:t>축적 </a:t>
            </a:r>
            <a:r>
              <a:rPr lang="en-US" altLang="ko-KR" dirty="0"/>
              <a:t>(Accumulation)</a:t>
            </a:r>
            <a:endParaRPr lang="ko-KR" altLang="en-US" dirty="0"/>
          </a:p>
          <a:p>
            <a:pPr lvl="2"/>
            <a:r>
              <a:rPr lang="ko-KR" altLang="en-US" dirty="0"/>
              <a:t>게이트의 음의 전위는 기판의 정공을 </a:t>
            </a:r>
            <a:r>
              <a:rPr lang="ko-KR" altLang="en-US" dirty="0" err="1"/>
              <a:t>산화막</a:t>
            </a:r>
            <a:r>
              <a:rPr lang="ko-KR" altLang="en-US" dirty="0"/>
              <a:t> 계면으로 끌어당김</a:t>
            </a:r>
            <a:endParaRPr lang="en-US" altLang="ko-KR" dirty="0"/>
          </a:p>
          <a:p>
            <a:pPr lvl="3"/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/>
              <a:t>단자 소자는 단위 면적당 정전 용량이 </a:t>
            </a:r>
            <a:r>
              <a:rPr lang="en-US" altLang="ko-KR" dirty="0"/>
              <a:t>C</a:t>
            </a:r>
            <a:r>
              <a:rPr lang="en-US" altLang="ko-KR" baseline="-25000" dirty="0"/>
              <a:t>ox</a:t>
            </a:r>
            <a:r>
              <a:rPr lang="ko-KR" altLang="en-US" dirty="0"/>
              <a:t>인 </a:t>
            </a:r>
            <a:r>
              <a:rPr lang="ko-KR" altLang="en-US" dirty="0" err="1"/>
              <a:t>커패시터로</a:t>
            </a:r>
            <a:r>
              <a:rPr lang="ko-KR" altLang="en-US" dirty="0"/>
              <a:t> 볼 수 있음</a:t>
            </a:r>
            <a:endParaRPr lang="en-US" altLang="ko-KR" dirty="0"/>
          </a:p>
          <a:p>
            <a:pPr lvl="1"/>
            <a:r>
              <a:rPr lang="ko-KR" altLang="en-US" dirty="0" err="1"/>
              <a:t>약반전</a:t>
            </a:r>
            <a:r>
              <a:rPr lang="ko-KR" altLang="en-US" dirty="0"/>
              <a:t> </a:t>
            </a:r>
            <a:r>
              <a:rPr lang="en-US" altLang="ko-KR" dirty="0"/>
              <a:t>(Weak inversion)</a:t>
            </a:r>
            <a:endParaRPr lang="ko-KR" altLang="en-US" dirty="0"/>
          </a:p>
          <a:p>
            <a:pPr lvl="2"/>
            <a:r>
              <a:rPr lang="ko-KR" altLang="en-US" dirty="0" err="1"/>
              <a:t>산화막</a:t>
            </a:r>
            <a:r>
              <a:rPr lang="ko-KR" altLang="en-US" dirty="0"/>
              <a:t> 아래에 </a:t>
            </a:r>
            <a:r>
              <a:rPr lang="ko-KR" altLang="en-US" dirty="0" err="1"/>
              <a:t>공핍</a:t>
            </a:r>
            <a:r>
              <a:rPr lang="ko-KR" altLang="en-US" dirty="0"/>
              <a:t> 영역이 형성되기 시작하면서 소자는 </a:t>
            </a:r>
            <a:r>
              <a:rPr lang="ko-KR" altLang="en-US" dirty="0" err="1"/>
              <a:t>약반전</a:t>
            </a:r>
            <a:r>
              <a:rPr lang="ko-KR" altLang="en-US" dirty="0"/>
              <a:t> 상태</a:t>
            </a:r>
            <a:endParaRPr lang="en-US" altLang="ko-KR" dirty="0"/>
          </a:p>
          <a:p>
            <a:pPr lvl="3"/>
            <a:r>
              <a:rPr lang="en-US" altLang="ko-KR" dirty="0"/>
              <a:t>C</a:t>
            </a:r>
            <a:r>
              <a:rPr lang="en-US" altLang="ko-KR" baseline="-25000" dirty="0"/>
              <a:t>ox</a:t>
            </a:r>
            <a:r>
              <a:rPr lang="ko-KR" altLang="en-US" dirty="0"/>
              <a:t>와 </a:t>
            </a:r>
            <a:r>
              <a:rPr lang="en-US" altLang="ko-KR" dirty="0" err="1"/>
              <a:t>C</a:t>
            </a:r>
            <a:r>
              <a:rPr lang="en-US" altLang="ko-KR" baseline="-25000" dirty="0" err="1"/>
              <a:t>dep</a:t>
            </a:r>
            <a:r>
              <a:rPr lang="ko-KR" altLang="en-US" dirty="0"/>
              <a:t>의 직렬 연결</a:t>
            </a:r>
          </a:p>
          <a:p>
            <a:pPr lvl="1"/>
            <a:r>
              <a:rPr lang="ko-KR" altLang="en-US" dirty="0" err="1"/>
              <a:t>강반전</a:t>
            </a:r>
            <a:r>
              <a:rPr lang="ko-KR" altLang="en-US" dirty="0"/>
              <a:t> </a:t>
            </a:r>
            <a:r>
              <a:rPr lang="en-US" altLang="ko-KR" dirty="0"/>
              <a:t>(Strong inversion)</a:t>
            </a:r>
          </a:p>
          <a:p>
            <a:pPr lvl="2"/>
            <a:r>
              <a:rPr lang="ko-KR" altLang="en-US" dirty="0"/>
              <a:t>채널이 형성됩니다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단위 면적당 정전 용량은 다시 </a:t>
            </a:r>
            <a:r>
              <a:rPr lang="en-US" altLang="ko-KR" dirty="0"/>
              <a:t>C</a:t>
            </a:r>
            <a:r>
              <a:rPr lang="en-US" altLang="ko-KR" baseline="-25000" dirty="0"/>
              <a:t>ox</a:t>
            </a:r>
            <a:r>
              <a:rPr lang="ko-KR" altLang="en-US" dirty="0"/>
              <a:t>가 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FA81E-E330-42F9-B23B-24D35D40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6C6A-CCD9-4A51-B97C-111F1DA07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95" y="4558864"/>
            <a:ext cx="3048000" cy="190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11359-0928-4119-BE45-CD15C209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267" y="4570641"/>
            <a:ext cx="3465513" cy="1868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808A34-22CA-4E0B-9684-D96E9F3DC593}"/>
              </a:ext>
            </a:extLst>
          </p:cNvPr>
          <p:cNvSpPr txBox="1"/>
          <p:nvPr/>
        </p:nvSpPr>
        <p:spPr>
          <a:xfrm>
            <a:off x="3468529" y="63970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축척</a:t>
            </a:r>
          </a:p>
        </p:txBody>
      </p:sp>
    </p:spTree>
    <p:extLst>
      <p:ext uri="{BB962C8B-B14F-4D97-AF65-F5344CB8AC3E}">
        <p14:creationId xmlns:p14="http://schemas.microsoft.com/office/powerpoint/2010/main" val="1977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224161</TotalTime>
  <Words>1887</Words>
  <Application>Microsoft Office PowerPoint</Application>
  <PresentationFormat>와이드스크린</PresentationFormat>
  <Paragraphs>285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맑은 고딕</vt:lpstr>
      <vt:lpstr>Arial</vt:lpstr>
      <vt:lpstr>Calibri</vt:lpstr>
      <vt:lpstr>Calibri Light</vt:lpstr>
      <vt:lpstr>Cambria Math</vt:lpstr>
      <vt:lpstr>Wingdings</vt:lpstr>
      <vt:lpstr>Office Theme</vt:lpstr>
      <vt:lpstr>Basic MOS Device Physics</vt:lpstr>
      <vt:lpstr>수업 목표</vt:lpstr>
      <vt:lpstr>PowerPoint 프레젠테이션</vt:lpstr>
      <vt:lpstr>일반적인 고려사항</vt:lpstr>
      <vt:lpstr>PowerPoint 프레젠테이션</vt:lpstr>
      <vt:lpstr>PowerPoint 프레젠테이션</vt:lpstr>
      <vt:lpstr>PowerPoint 프레젠테이션</vt:lpstr>
      <vt:lpstr>PowerPoint 프레젠테이션</vt:lpstr>
      <vt:lpstr>MOS I/V 특성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2차 효과 (Second-Order Effects)</vt:lpstr>
      <vt:lpstr>PowerPoint 프레젠테이션</vt:lpstr>
      <vt:lpstr>PowerPoint 프레젠테이션</vt:lpstr>
      <vt:lpstr>PowerPoint 프레젠테이션</vt:lpstr>
      <vt:lpstr>PowerPoint 프레젠테이션</vt:lpstr>
      <vt:lpstr>MOS 소자 모델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FinFET</vt:lpstr>
      <vt:lpstr>PowerPoint 프레젠테이션</vt:lpstr>
      <vt:lpstr>MOS 소자의 커패시터로서의 동작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Daekeun Yoon</dc:creator>
  <cp:lastModifiedBy>박영걸</cp:lastModifiedBy>
  <cp:revision>1237</cp:revision>
  <dcterms:created xsi:type="dcterms:W3CDTF">2016-09-12T01:40:13Z</dcterms:created>
  <dcterms:modified xsi:type="dcterms:W3CDTF">2026-09-17T09:19:01Z</dcterms:modified>
</cp:coreProperties>
</file>